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6" r:id="rId2"/>
    <p:sldId id="270" r:id="rId3"/>
    <p:sldId id="258" r:id="rId4"/>
    <p:sldId id="259" r:id="rId5"/>
    <p:sldId id="261" r:id="rId6"/>
    <p:sldId id="273" r:id="rId7"/>
    <p:sldId id="262" r:id="rId8"/>
    <p:sldId id="272" r:id="rId9"/>
    <p:sldId id="263" r:id="rId10"/>
    <p:sldId id="264" r:id="rId11"/>
    <p:sldId id="265" r:id="rId12"/>
    <p:sldId id="260" r:id="rId13"/>
    <p:sldId id="266" r:id="rId14"/>
    <p:sldId id="267" r:id="rId15"/>
    <p:sldId id="268" r:id="rId16"/>
    <p:sldId id="269" r:id="rId17"/>
    <p:sldId id="271" r:id="rId1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9D5CE-45A6-448D-8644-E894A79B38C7}" v="3275" dt="2021-09-06T20:04:54.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2" d="100"/>
          <a:sy n="82"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0A7399-3E59-44AB-A74A-02D8437D6E1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5CB60CE-D054-46DB-8BEA-E69A0B88BBE4}">
      <dgm:prSet/>
      <dgm:spPr/>
      <dgm:t>
        <a:bodyPr/>
        <a:lstStyle/>
        <a:p>
          <a:r>
            <a:rPr lang="en-GB"/>
            <a:t>Organization requires the company to revise its activities of design, purchasing, manufacturing, packaging, warehousing, and transport. In order to make a product or service “green” (i.e., environment- friendly), managers have to interact with engineers at this phase of the product development</a:t>
          </a:r>
          <a:endParaRPr lang="en-US"/>
        </a:p>
      </dgm:t>
    </dgm:pt>
    <dgm:pt modelId="{3004342C-30F7-4FE9-8363-2A835D97F5EC}" type="parTrans" cxnId="{16C06CF9-C58E-4698-AF6E-2AEF0E0B242E}">
      <dgm:prSet/>
      <dgm:spPr/>
      <dgm:t>
        <a:bodyPr/>
        <a:lstStyle/>
        <a:p>
          <a:endParaRPr lang="en-US"/>
        </a:p>
      </dgm:t>
    </dgm:pt>
    <dgm:pt modelId="{D84B6AAE-4818-4E0F-AF28-D8E82131A522}" type="sibTrans" cxnId="{16C06CF9-C58E-4698-AF6E-2AEF0E0B242E}">
      <dgm:prSet/>
      <dgm:spPr/>
      <dgm:t>
        <a:bodyPr/>
        <a:lstStyle/>
        <a:p>
          <a:endParaRPr lang="en-US"/>
        </a:p>
      </dgm:t>
    </dgm:pt>
    <dgm:pt modelId="{59A2A322-8DA5-4680-BC6C-DEE16D0192A6}">
      <dgm:prSet/>
      <dgm:spPr/>
      <dgm:t>
        <a:bodyPr/>
        <a:lstStyle/>
        <a:p>
          <a:r>
            <a:rPr lang="en-GB"/>
            <a:t>Supplier selection can be based on environmental criteria that companies have to determine in accordance with their policies, strategic goals, and regulatory standards. Companies can either impose some environmental criteria to be respected by their suppliers or select suppliers based on environmental criteria and monitor their environmental performance</a:t>
          </a:r>
          <a:endParaRPr lang="en-US"/>
        </a:p>
      </dgm:t>
    </dgm:pt>
    <dgm:pt modelId="{1D891CBA-E123-4120-A122-58A26A53D8F2}" type="parTrans" cxnId="{88A296C1-A775-4693-B6D6-E3C9D0338FDE}">
      <dgm:prSet/>
      <dgm:spPr/>
      <dgm:t>
        <a:bodyPr/>
        <a:lstStyle/>
        <a:p>
          <a:endParaRPr lang="en-US"/>
        </a:p>
      </dgm:t>
    </dgm:pt>
    <dgm:pt modelId="{099E69C3-D53B-48CC-8DB8-D8AD49BB07A2}" type="sibTrans" cxnId="{88A296C1-A775-4693-B6D6-E3C9D0338FDE}">
      <dgm:prSet/>
      <dgm:spPr/>
      <dgm:t>
        <a:bodyPr/>
        <a:lstStyle/>
        <a:p>
          <a:endParaRPr lang="en-US"/>
        </a:p>
      </dgm:t>
    </dgm:pt>
    <dgm:pt modelId="{E66C4B3E-3EA0-4F3C-A205-850F1DC55209}">
      <dgm:prSet/>
      <dgm:spPr/>
      <dgm:t>
        <a:bodyPr/>
        <a:lstStyle/>
        <a:p>
          <a:r>
            <a:rPr lang="en-GB">
              <a:latin typeface="Goudy Old Style"/>
            </a:rPr>
            <a:t>Customers</a:t>
          </a:r>
          <a:r>
            <a:rPr lang="en-GB"/>
            <a:t> need to be involved in the process of greening the SC to manage the impact of the product/service in the use and End of Life. This involvement can take the form of voluntary information sharing on environmental management of products and services to make customers improve their practices </a:t>
          </a:r>
          <a:endParaRPr lang="en-US"/>
        </a:p>
      </dgm:t>
    </dgm:pt>
    <dgm:pt modelId="{BBD2311A-0916-4C57-BEDB-07F3BACCF1D0}" type="parTrans" cxnId="{98712892-30F4-4A98-9E0D-BA8A2E85CD37}">
      <dgm:prSet/>
      <dgm:spPr/>
      <dgm:t>
        <a:bodyPr/>
        <a:lstStyle/>
        <a:p>
          <a:endParaRPr lang="en-US"/>
        </a:p>
      </dgm:t>
    </dgm:pt>
    <dgm:pt modelId="{6A1B60D8-BEA0-4E9E-B546-0F3E903FF16D}" type="sibTrans" cxnId="{98712892-30F4-4A98-9E0D-BA8A2E85CD37}">
      <dgm:prSet/>
      <dgm:spPr/>
      <dgm:t>
        <a:bodyPr/>
        <a:lstStyle/>
        <a:p>
          <a:endParaRPr lang="en-US"/>
        </a:p>
      </dgm:t>
    </dgm:pt>
    <dgm:pt modelId="{3C9856B1-D398-4392-BCC8-057AD77C3769}">
      <dgm:prSet/>
      <dgm:spPr/>
      <dgm:t>
        <a:bodyPr/>
        <a:lstStyle/>
        <a:p>
          <a:r>
            <a:rPr lang="en-GB">
              <a:latin typeface="Goudy Old Style"/>
            </a:rPr>
            <a:t>Collaboration</a:t>
          </a:r>
          <a:r>
            <a:rPr lang="en-GB"/>
            <a:t> and coordination with stakeholders as a whole (i.e., not only suppliers and customers but also government bodies, NGOs, or local communities) is needed to improve the green performance of supply chains</a:t>
          </a:r>
          <a:endParaRPr lang="en-US"/>
        </a:p>
      </dgm:t>
    </dgm:pt>
    <dgm:pt modelId="{0273FF0C-D6F0-4912-8935-800BB28DFF9F}" type="parTrans" cxnId="{E9308851-DF8D-4D52-A6C1-230CDB78F06E}">
      <dgm:prSet/>
      <dgm:spPr/>
      <dgm:t>
        <a:bodyPr/>
        <a:lstStyle/>
        <a:p>
          <a:endParaRPr lang="en-US"/>
        </a:p>
      </dgm:t>
    </dgm:pt>
    <dgm:pt modelId="{E71B3678-0130-4A42-B143-1572258E94E7}" type="sibTrans" cxnId="{E9308851-DF8D-4D52-A6C1-230CDB78F06E}">
      <dgm:prSet/>
      <dgm:spPr/>
      <dgm:t>
        <a:bodyPr/>
        <a:lstStyle/>
        <a:p>
          <a:endParaRPr lang="en-US"/>
        </a:p>
      </dgm:t>
    </dgm:pt>
    <dgm:pt modelId="{3038EF6C-67AE-4CF1-816D-578C73E8B028}" type="pres">
      <dgm:prSet presAssocID="{B80A7399-3E59-44AB-A74A-02D8437D6E17}" presName="linear" presStyleCnt="0">
        <dgm:presLayoutVars>
          <dgm:animLvl val="lvl"/>
          <dgm:resizeHandles val="exact"/>
        </dgm:presLayoutVars>
      </dgm:prSet>
      <dgm:spPr/>
    </dgm:pt>
    <dgm:pt modelId="{505B7A0F-BE8C-4AD2-AB76-E8A1195BEF09}" type="pres">
      <dgm:prSet presAssocID="{C5CB60CE-D054-46DB-8BEA-E69A0B88BBE4}" presName="parentText" presStyleLbl="node1" presStyleIdx="0" presStyleCnt="4">
        <dgm:presLayoutVars>
          <dgm:chMax val="0"/>
          <dgm:bulletEnabled val="1"/>
        </dgm:presLayoutVars>
      </dgm:prSet>
      <dgm:spPr/>
    </dgm:pt>
    <dgm:pt modelId="{68A0C5EB-A29A-40BE-B0D1-2382834CB40C}" type="pres">
      <dgm:prSet presAssocID="{D84B6AAE-4818-4E0F-AF28-D8E82131A522}" presName="spacer" presStyleCnt="0"/>
      <dgm:spPr/>
    </dgm:pt>
    <dgm:pt modelId="{26589855-9096-48E2-A1A1-C9C553DC5CB6}" type="pres">
      <dgm:prSet presAssocID="{59A2A322-8DA5-4680-BC6C-DEE16D0192A6}" presName="parentText" presStyleLbl="node1" presStyleIdx="1" presStyleCnt="4">
        <dgm:presLayoutVars>
          <dgm:chMax val="0"/>
          <dgm:bulletEnabled val="1"/>
        </dgm:presLayoutVars>
      </dgm:prSet>
      <dgm:spPr/>
    </dgm:pt>
    <dgm:pt modelId="{CB791F9F-2746-4845-98C9-A4842FDE1918}" type="pres">
      <dgm:prSet presAssocID="{099E69C3-D53B-48CC-8DB8-D8AD49BB07A2}" presName="spacer" presStyleCnt="0"/>
      <dgm:spPr/>
    </dgm:pt>
    <dgm:pt modelId="{44017366-0951-41D6-9CB1-74676BC145A9}" type="pres">
      <dgm:prSet presAssocID="{E66C4B3E-3EA0-4F3C-A205-850F1DC55209}" presName="parentText" presStyleLbl="node1" presStyleIdx="2" presStyleCnt="4">
        <dgm:presLayoutVars>
          <dgm:chMax val="0"/>
          <dgm:bulletEnabled val="1"/>
        </dgm:presLayoutVars>
      </dgm:prSet>
      <dgm:spPr/>
    </dgm:pt>
    <dgm:pt modelId="{9B9CFFE4-66C8-49EC-B91A-D1E3D3883A52}" type="pres">
      <dgm:prSet presAssocID="{6A1B60D8-BEA0-4E9E-B546-0F3E903FF16D}" presName="spacer" presStyleCnt="0"/>
      <dgm:spPr/>
    </dgm:pt>
    <dgm:pt modelId="{E4553262-13D2-4A2E-9470-D4667BB99DBD}" type="pres">
      <dgm:prSet presAssocID="{3C9856B1-D398-4392-BCC8-057AD77C3769}" presName="parentText" presStyleLbl="node1" presStyleIdx="3" presStyleCnt="4">
        <dgm:presLayoutVars>
          <dgm:chMax val="0"/>
          <dgm:bulletEnabled val="1"/>
        </dgm:presLayoutVars>
      </dgm:prSet>
      <dgm:spPr/>
    </dgm:pt>
  </dgm:ptLst>
  <dgm:cxnLst>
    <dgm:cxn modelId="{56638503-3E77-4CFA-93E1-E3CB3D1C8418}" type="presOf" srcId="{59A2A322-8DA5-4680-BC6C-DEE16D0192A6}" destId="{26589855-9096-48E2-A1A1-C9C553DC5CB6}" srcOrd="0" destOrd="0" presId="urn:microsoft.com/office/officeart/2005/8/layout/vList2"/>
    <dgm:cxn modelId="{D3124F1F-38E5-4C2D-8111-BB4E8DE079F9}" type="presOf" srcId="{3C9856B1-D398-4392-BCC8-057AD77C3769}" destId="{E4553262-13D2-4A2E-9470-D4667BB99DBD}" srcOrd="0" destOrd="0" presId="urn:microsoft.com/office/officeart/2005/8/layout/vList2"/>
    <dgm:cxn modelId="{E9308851-DF8D-4D52-A6C1-230CDB78F06E}" srcId="{B80A7399-3E59-44AB-A74A-02D8437D6E17}" destId="{3C9856B1-D398-4392-BCC8-057AD77C3769}" srcOrd="3" destOrd="0" parTransId="{0273FF0C-D6F0-4912-8935-800BB28DFF9F}" sibTransId="{E71B3678-0130-4A42-B143-1572258E94E7}"/>
    <dgm:cxn modelId="{EEC03858-54CC-458F-B8BD-AD00F6885D87}" type="presOf" srcId="{E66C4B3E-3EA0-4F3C-A205-850F1DC55209}" destId="{44017366-0951-41D6-9CB1-74676BC145A9}" srcOrd="0" destOrd="0" presId="urn:microsoft.com/office/officeart/2005/8/layout/vList2"/>
    <dgm:cxn modelId="{4771117D-2E18-4A75-862D-EEFC901F48DB}" type="presOf" srcId="{C5CB60CE-D054-46DB-8BEA-E69A0B88BBE4}" destId="{505B7A0F-BE8C-4AD2-AB76-E8A1195BEF09}" srcOrd="0" destOrd="0" presId="urn:microsoft.com/office/officeart/2005/8/layout/vList2"/>
    <dgm:cxn modelId="{98712892-30F4-4A98-9E0D-BA8A2E85CD37}" srcId="{B80A7399-3E59-44AB-A74A-02D8437D6E17}" destId="{E66C4B3E-3EA0-4F3C-A205-850F1DC55209}" srcOrd="2" destOrd="0" parTransId="{BBD2311A-0916-4C57-BEDB-07F3BACCF1D0}" sibTransId="{6A1B60D8-BEA0-4E9E-B546-0F3E903FF16D}"/>
    <dgm:cxn modelId="{843F5299-1631-411A-8071-9F00A9C7A0B5}" type="presOf" srcId="{B80A7399-3E59-44AB-A74A-02D8437D6E17}" destId="{3038EF6C-67AE-4CF1-816D-578C73E8B028}" srcOrd="0" destOrd="0" presId="urn:microsoft.com/office/officeart/2005/8/layout/vList2"/>
    <dgm:cxn modelId="{88A296C1-A775-4693-B6D6-E3C9D0338FDE}" srcId="{B80A7399-3E59-44AB-A74A-02D8437D6E17}" destId="{59A2A322-8DA5-4680-BC6C-DEE16D0192A6}" srcOrd="1" destOrd="0" parTransId="{1D891CBA-E123-4120-A122-58A26A53D8F2}" sibTransId="{099E69C3-D53B-48CC-8DB8-D8AD49BB07A2}"/>
    <dgm:cxn modelId="{16C06CF9-C58E-4698-AF6E-2AEF0E0B242E}" srcId="{B80A7399-3E59-44AB-A74A-02D8437D6E17}" destId="{C5CB60CE-D054-46DB-8BEA-E69A0B88BBE4}" srcOrd="0" destOrd="0" parTransId="{3004342C-30F7-4FE9-8363-2A835D97F5EC}" sibTransId="{D84B6AAE-4818-4E0F-AF28-D8E82131A522}"/>
    <dgm:cxn modelId="{27CDA0B6-0EBB-4E82-AD16-950269F6911A}" type="presParOf" srcId="{3038EF6C-67AE-4CF1-816D-578C73E8B028}" destId="{505B7A0F-BE8C-4AD2-AB76-E8A1195BEF09}" srcOrd="0" destOrd="0" presId="urn:microsoft.com/office/officeart/2005/8/layout/vList2"/>
    <dgm:cxn modelId="{D72795FF-83E0-4EDE-81E6-52A3BCC6F881}" type="presParOf" srcId="{3038EF6C-67AE-4CF1-816D-578C73E8B028}" destId="{68A0C5EB-A29A-40BE-B0D1-2382834CB40C}" srcOrd="1" destOrd="0" presId="urn:microsoft.com/office/officeart/2005/8/layout/vList2"/>
    <dgm:cxn modelId="{8AC0A50E-2AC0-403E-987F-3C0A36350E0F}" type="presParOf" srcId="{3038EF6C-67AE-4CF1-816D-578C73E8B028}" destId="{26589855-9096-48E2-A1A1-C9C553DC5CB6}" srcOrd="2" destOrd="0" presId="urn:microsoft.com/office/officeart/2005/8/layout/vList2"/>
    <dgm:cxn modelId="{5DE017BA-1500-48A2-BB05-45F814E2AA70}" type="presParOf" srcId="{3038EF6C-67AE-4CF1-816D-578C73E8B028}" destId="{CB791F9F-2746-4845-98C9-A4842FDE1918}" srcOrd="3" destOrd="0" presId="urn:microsoft.com/office/officeart/2005/8/layout/vList2"/>
    <dgm:cxn modelId="{54326E91-4FA7-4968-BE11-BBAFC42AA2CE}" type="presParOf" srcId="{3038EF6C-67AE-4CF1-816D-578C73E8B028}" destId="{44017366-0951-41D6-9CB1-74676BC145A9}" srcOrd="4" destOrd="0" presId="urn:microsoft.com/office/officeart/2005/8/layout/vList2"/>
    <dgm:cxn modelId="{8C880E56-A05E-46CE-82A0-56047F0F5F4D}" type="presParOf" srcId="{3038EF6C-67AE-4CF1-816D-578C73E8B028}" destId="{9B9CFFE4-66C8-49EC-B91A-D1E3D3883A52}" srcOrd="5" destOrd="0" presId="urn:microsoft.com/office/officeart/2005/8/layout/vList2"/>
    <dgm:cxn modelId="{DB83A59F-77B4-4DB8-8DF0-4BFB93D7A7AB}" type="presParOf" srcId="{3038EF6C-67AE-4CF1-816D-578C73E8B028}" destId="{E4553262-13D2-4A2E-9470-D4667BB99DB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5B7A0F-BE8C-4AD2-AB76-E8A1195BEF09}">
      <dsp:nvSpPr>
        <dsp:cNvPr id="0" name=""/>
        <dsp:cNvSpPr/>
      </dsp:nvSpPr>
      <dsp:spPr>
        <a:xfrm>
          <a:off x="0" y="118326"/>
          <a:ext cx="6102673" cy="1542206"/>
        </a:xfrm>
        <a:prstGeom prst="round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Organization requires the company to revise its activities of design, purchasing, manufacturing, packaging, warehousing, and transport. In order to make a product or service “green” (i.e., environment- friendly), managers have to interact with engineers at this phase of the product development</a:t>
          </a:r>
          <a:endParaRPr lang="en-US" sz="1500" kern="1200"/>
        </a:p>
      </dsp:txBody>
      <dsp:txXfrm>
        <a:off x="75284" y="193610"/>
        <a:ext cx="5952105" cy="1391638"/>
      </dsp:txXfrm>
    </dsp:sp>
    <dsp:sp modelId="{26589855-9096-48E2-A1A1-C9C553DC5CB6}">
      <dsp:nvSpPr>
        <dsp:cNvPr id="0" name=""/>
        <dsp:cNvSpPr/>
      </dsp:nvSpPr>
      <dsp:spPr>
        <a:xfrm>
          <a:off x="0" y="1703732"/>
          <a:ext cx="6102673" cy="1542206"/>
        </a:xfrm>
        <a:prstGeom prst="roundRect">
          <a:avLst/>
        </a:prstGeom>
        <a:solidFill>
          <a:schemeClr val="accent2">
            <a:hueOff val="-2026668"/>
            <a:satOff val="-5715"/>
            <a:lumOff val="-2418"/>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Supplier selection can be based on environmental criteria that companies have to determine in accordance with their policies, strategic goals, and regulatory standards. Companies can either impose some environmental criteria to be respected by their suppliers or select suppliers based on environmental criteria and monitor their environmental performance</a:t>
          </a:r>
          <a:endParaRPr lang="en-US" sz="1500" kern="1200"/>
        </a:p>
      </dsp:txBody>
      <dsp:txXfrm>
        <a:off x="75284" y="1779016"/>
        <a:ext cx="5952105" cy="1391638"/>
      </dsp:txXfrm>
    </dsp:sp>
    <dsp:sp modelId="{44017366-0951-41D6-9CB1-74676BC145A9}">
      <dsp:nvSpPr>
        <dsp:cNvPr id="0" name=""/>
        <dsp:cNvSpPr/>
      </dsp:nvSpPr>
      <dsp:spPr>
        <a:xfrm>
          <a:off x="0" y="3289139"/>
          <a:ext cx="6102673" cy="1542206"/>
        </a:xfrm>
        <a:prstGeom prst="roundRect">
          <a:avLst/>
        </a:prstGeom>
        <a:solidFill>
          <a:schemeClr val="accent2">
            <a:hueOff val="-4053335"/>
            <a:satOff val="-11429"/>
            <a:lumOff val="-4837"/>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latin typeface="Goudy Old Style"/>
            </a:rPr>
            <a:t>Customers</a:t>
          </a:r>
          <a:r>
            <a:rPr lang="en-GB" sz="1500" kern="1200"/>
            <a:t> need to be involved in the process of greening the SC to manage the impact of the product/service in the use and End of Life. This involvement can take the form of voluntary information sharing on environmental management of products and services to make customers improve their practices </a:t>
          </a:r>
          <a:endParaRPr lang="en-US" sz="1500" kern="1200"/>
        </a:p>
      </dsp:txBody>
      <dsp:txXfrm>
        <a:off x="75284" y="3364423"/>
        <a:ext cx="5952105" cy="1391638"/>
      </dsp:txXfrm>
    </dsp:sp>
    <dsp:sp modelId="{E4553262-13D2-4A2E-9470-D4667BB99DBD}">
      <dsp:nvSpPr>
        <dsp:cNvPr id="0" name=""/>
        <dsp:cNvSpPr/>
      </dsp:nvSpPr>
      <dsp:spPr>
        <a:xfrm>
          <a:off x="0" y="4874545"/>
          <a:ext cx="6102673" cy="1542206"/>
        </a:xfrm>
        <a:prstGeom prst="roundRect">
          <a:avLst/>
        </a:prstGeom>
        <a:solidFill>
          <a:schemeClr val="accent2">
            <a:hueOff val="-6080002"/>
            <a:satOff val="-17144"/>
            <a:lumOff val="-7255"/>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latin typeface="Goudy Old Style"/>
            </a:rPr>
            <a:t>Collaboration</a:t>
          </a:r>
          <a:r>
            <a:rPr lang="en-GB" sz="1500" kern="1200"/>
            <a:t> and coordination with stakeholders as a whole (i.e., not only suppliers and customers but also government bodies, NGOs, or local communities) is needed to improve the green performance of supply chains</a:t>
          </a:r>
          <a:endParaRPr lang="en-US" sz="1500" kern="1200"/>
        </a:p>
      </dsp:txBody>
      <dsp:txXfrm>
        <a:off x="75284" y="4949829"/>
        <a:ext cx="5952105" cy="13916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48942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963770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6/21/2024</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41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1465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073323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45958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091213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078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023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2473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6/21/2024</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887506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6/21/2024</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1960522674"/>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39" r:id="rId6"/>
    <p:sldLayoutId id="2147483735" r:id="rId7"/>
    <p:sldLayoutId id="2147483736" r:id="rId8"/>
    <p:sldLayoutId id="2147483737" r:id="rId9"/>
    <p:sldLayoutId id="2147483738" r:id="rId10"/>
    <p:sldLayoutId id="2147483740"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youtube.com/watch?v=FI_FrKb2dZ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ight bulb on green grass">
            <a:extLst>
              <a:ext uri="{FF2B5EF4-FFF2-40B4-BE49-F238E27FC236}">
                <a16:creationId xmlns:a16="http://schemas.microsoft.com/office/drawing/2014/main" id="{DB10CA4D-5D18-4067-A92D-C778C603C717}"/>
              </a:ext>
            </a:extLst>
          </p:cNvPr>
          <p:cNvPicPr>
            <a:picLocks noChangeAspect="1"/>
          </p:cNvPicPr>
          <p:nvPr/>
        </p:nvPicPr>
        <p:blipFill rotWithShape="1">
          <a:blip r:embed="rId2"/>
          <a:srcRect t="1709" b="14021"/>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28" name="Rectangle 27">
            <a:extLst>
              <a:ext uri="{FF2B5EF4-FFF2-40B4-BE49-F238E27FC236}">
                <a16:creationId xmlns:a16="http://schemas.microsoft.com/office/drawing/2014/main" id="{DCFCE6BC-4706-49A2-816A-A44669F98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8637" y="1"/>
            <a:ext cx="8894726" cy="6858000"/>
          </a:xfrm>
          <a:prstGeom prst="rect">
            <a:avLst/>
          </a:prstGeom>
          <a:gradFill flip="none" rotWithShape="1">
            <a:gsLst>
              <a:gs pos="0">
                <a:srgbClr val="000000">
                  <a:alpha val="34902"/>
                </a:srgbClr>
              </a:gs>
              <a:gs pos="80000">
                <a:srgbClr val="000000">
                  <a:alpha val="0"/>
                </a:srgbClr>
              </a:gs>
              <a:gs pos="51000">
                <a:srgbClr val="000000">
                  <a:alpha val="2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2107200" y="1096965"/>
            <a:ext cx="7977600" cy="2085696"/>
          </a:xfrm>
        </p:spPr>
        <p:txBody>
          <a:bodyPr>
            <a:normAutofit/>
          </a:bodyPr>
          <a:lstStyle/>
          <a:p>
            <a:r>
              <a:rPr lang="en-GB" b="1" dirty="0">
                <a:solidFill>
                  <a:srgbClr val="FFFFFF"/>
                </a:solidFill>
                <a:ea typeface="+mj-lt"/>
                <a:cs typeface="+mj-lt"/>
              </a:rPr>
              <a:t>Sustainable Supply Chain Management </a:t>
            </a:r>
          </a:p>
          <a:p>
            <a:endParaRPr lang="en-GB" b="1" dirty="0">
              <a:solidFill>
                <a:srgbClr val="FFFFFF"/>
              </a:solidFill>
              <a:cs typeface="Calibri Light"/>
            </a:endParaRPr>
          </a:p>
        </p:txBody>
      </p:sp>
      <p:sp>
        <p:nvSpPr>
          <p:cNvPr id="3" name="Subtitle 2"/>
          <p:cNvSpPr>
            <a:spLocks noGrp="1"/>
          </p:cNvSpPr>
          <p:nvPr>
            <p:ph type="subTitle" idx="1"/>
          </p:nvPr>
        </p:nvSpPr>
        <p:spPr>
          <a:xfrm>
            <a:off x="3216000" y="3945771"/>
            <a:ext cx="5760000" cy="1832730"/>
          </a:xfrm>
        </p:spPr>
        <p:txBody>
          <a:bodyPr vert="horz" lIns="91440" tIns="45720" rIns="91440" bIns="45720" rtlCol="0">
            <a:normAutofit/>
          </a:bodyPr>
          <a:lstStyle/>
          <a:p>
            <a:r>
              <a:rPr lang="en-GB">
                <a:solidFill>
                  <a:srgbClr val="FFFFFF">
                    <a:alpha val="80000"/>
                  </a:srgbClr>
                </a:solidFill>
              </a:rPr>
              <a:t>Introduction to sustainability </a:t>
            </a:r>
          </a:p>
          <a:p>
            <a:endParaRPr lang="en-GB">
              <a:solidFill>
                <a:srgbClr val="FFFFFF">
                  <a:alpha val="80000"/>
                </a:srgbClr>
              </a:solidFill>
            </a:endParaRPr>
          </a:p>
          <a:p>
            <a:r>
              <a:rPr lang="en-GB">
                <a:solidFill>
                  <a:srgbClr val="FFFFFF">
                    <a:alpha val="80000"/>
                  </a:srgbClr>
                </a:solidFill>
              </a:rPr>
              <a:t>Lesson 9</a:t>
            </a:r>
          </a:p>
        </p:txBody>
      </p:sp>
      <p:cxnSp>
        <p:nvCxnSpPr>
          <p:cNvPr id="30" name="Straight Connector 29">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53636-BFDC-4B08-B06E-B61A900E84AB}"/>
              </a:ext>
            </a:extLst>
          </p:cNvPr>
          <p:cNvSpPr>
            <a:spLocks noGrp="1"/>
          </p:cNvSpPr>
          <p:nvPr>
            <p:ph type="title"/>
          </p:nvPr>
        </p:nvSpPr>
        <p:spPr>
          <a:xfrm>
            <a:off x="539750" y="514163"/>
            <a:ext cx="3892550" cy="287592"/>
          </a:xfrm>
        </p:spPr>
        <p:txBody>
          <a:bodyPr vert="horz" wrap="square" lIns="91440" tIns="45720" rIns="91440" bIns="45720" rtlCol="0" anchor="b" anchorCtr="0">
            <a:normAutofit fontScale="90000"/>
          </a:bodyPr>
          <a:lstStyle/>
          <a:p>
            <a:pPr algn="ctr"/>
            <a:r>
              <a:rPr lang="en-US" b="1" kern="1200" cap="none" spc="0" baseline="0">
                <a:latin typeface="+mj-lt"/>
                <a:ea typeface="+mj-ea"/>
                <a:cs typeface="+mj-cs"/>
              </a:rPr>
              <a:t>Presentation Outline </a:t>
            </a:r>
            <a:endParaRPr lang="en-US" b="1" kern="1200" cap="none" spc="0" baseline="0">
              <a:latin typeface="+mj-lt"/>
            </a:endParaRPr>
          </a:p>
        </p:txBody>
      </p:sp>
      <p:cxnSp>
        <p:nvCxnSpPr>
          <p:cNvPr id="13" name="Straight Connector 11">
            <a:extLst>
              <a:ext uri="{FF2B5EF4-FFF2-40B4-BE49-F238E27FC236}">
                <a16:creationId xmlns:a16="http://schemas.microsoft.com/office/drawing/2014/main" id="{79A23555-9837-466D-9123-97B89F6CA1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60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ECD8C614-83CB-4116-B202-DDD50B687C2D}"/>
              </a:ext>
            </a:extLst>
          </p:cNvPr>
          <p:cNvSpPr>
            <a:spLocks noGrp="1"/>
          </p:cNvSpPr>
          <p:nvPr/>
        </p:nvSpPr>
        <p:spPr>
          <a:xfrm>
            <a:off x="59912" y="983225"/>
            <a:ext cx="5231179" cy="5635716"/>
          </a:xfrm>
          <a:prstGeom prst="rect">
            <a:avLst/>
          </a:prstGeom>
        </p:spPr>
        <p:txBody>
          <a:bodyPr vert="horz" lIns="91440" tIns="45720" rIns="91440" bIns="45720" rtlCol="0" anchor="t">
            <a:noAutofit/>
          </a:bodyPr>
          <a:lst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9410" indent="-359410">
              <a:lnSpc>
                <a:spcPct val="140000"/>
              </a:lnSpc>
            </a:pPr>
            <a:r>
              <a:rPr lang="en-US" dirty="0">
                <a:solidFill>
                  <a:srgbClr val="000000"/>
                </a:solidFill>
              </a:rPr>
              <a:t>Background  to Sustainable Supply Chain Management </a:t>
            </a:r>
          </a:p>
          <a:p>
            <a:pPr marL="359410" indent="-359410">
              <a:lnSpc>
                <a:spcPct val="140000"/>
              </a:lnSpc>
            </a:pPr>
            <a:r>
              <a:rPr lang="en-US" dirty="0">
                <a:solidFill>
                  <a:srgbClr val="000000"/>
                </a:solidFill>
              </a:rPr>
              <a:t>Sustainability Development Goals vs Sustainable Supply Chain Management </a:t>
            </a:r>
          </a:p>
          <a:p>
            <a:pPr marL="359410" indent="-359410">
              <a:lnSpc>
                <a:spcPct val="140000"/>
              </a:lnSpc>
            </a:pPr>
            <a:r>
              <a:rPr lang="en-US" dirty="0">
                <a:solidFill>
                  <a:srgbClr val="000000"/>
                </a:solidFill>
              </a:rPr>
              <a:t>Reverse Logistics and Other Preceding Terms</a:t>
            </a:r>
          </a:p>
          <a:p>
            <a:pPr marL="359410" indent="-359410">
              <a:lnSpc>
                <a:spcPct val="140000"/>
              </a:lnSpc>
            </a:pPr>
            <a:r>
              <a:rPr lang="en-US" dirty="0">
                <a:solidFill>
                  <a:srgbClr val="000000"/>
                </a:solidFill>
              </a:rPr>
              <a:t>Green Supply Chain Management</a:t>
            </a:r>
          </a:p>
          <a:p>
            <a:pPr marL="359410" indent="-359410">
              <a:lnSpc>
                <a:spcPct val="140000"/>
              </a:lnSpc>
            </a:pPr>
            <a:r>
              <a:rPr lang="en-US" dirty="0">
                <a:solidFill>
                  <a:srgbClr val="000000"/>
                </a:solidFill>
              </a:rPr>
              <a:t>Sustainable Supply Chain Management</a:t>
            </a:r>
          </a:p>
          <a:p>
            <a:pPr marL="359410" indent="-359410">
              <a:lnSpc>
                <a:spcPct val="140000"/>
              </a:lnSpc>
            </a:pPr>
            <a:r>
              <a:rPr lang="en-US" dirty="0">
                <a:hlinkClick r:id="rId2"/>
              </a:rPr>
              <a:t>World's First Electric Road: Charging EVs While Driving (youtube.com)</a:t>
            </a:r>
            <a:r>
              <a:rPr lang="en-US" dirty="0">
                <a:solidFill>
                  <a:srgbClr val="000000"/>
                </a:solidFill>
              </a:rPr>
              <a:t>  </a:t>
            </a:r>
          </a:p>
          <a:p>
            <a:pPr marL="359410" indent="-359410">
              <a:lnSpc>
                <a:spcPct val="140000"/>
              </a:lnSpc>
            </a:pPr>
            <a:endParaRPr lang="en-US" dirty="0"/>
          </a:p>
          <a:p>
            <a:pPr marL="359410" indent="-359410">
              <a:lnSpc>
                <a:spcPct val="140000"/>
              </a:lnSpc>
            </a:pPr>
            <a:endParaRPr lang="en-US" dirty="0"/>
          </a:p>
          <a:p>
            <a:pPr marL="359410" indent="-359410">
              <a:lnSpc>
                <a:spcPct val="140000"/>
              </a:lnSpc>
            </a:pPr>
            <a:endParaRPr lang="en-US" sz="1000" b="1" dirty="0"/>
          </a:p>
          <a:p>
            <a:pPr marL="359410" indent="-359410">
              <a:lnSpc>
                <a:spcPct val="140000"/>
              </a:lnSpc>
            </a:pPr>
            <a:endParaRPr lang="en-US" sz="1000" dirty="0"/>
          </a:p>
        </p:txBody>
      </p:sp>
      <p:pic>
        <p:nvPicPr>
          <p:cNvPr id="14" name="Picture 5" descr="A room of colourful chairs">
            <a:extLst>
              <a:ext uri="{FF2B5EF4-FFF2-40B4-BE49-F238E27FC236}">
                <a16:creationId xmlns:a16="http://schemas.microsoft.com/office/drawing/2014/main" id="{34008803-3C04-4EC8-85EB-6013194BE3B5}"/>
              </a:ext>
            </a:extLst>
          </p:cNvPr>
          <p:cNvPicPr>
            <a:picLocks noChangeAspect="1"/>
          </p:cNvPicPr>
          <p:nvPr/>
        </p:nvPicPr>
        <p:blipFill rotWithShape="1">
          <a:blip r:embed="rId3"/>
          <a:srcRect l="15633" r="14274" b="-3"/>
          <a:stretch/>
        </p:blipFill>
        <p:spPr>
          <a:xfrm>
            <a:off x="5291091" y="10"/>
            <a:ext cx="6900909" cy="6857990"/>
          </a:xfrm>
          <a:prstGeom prst="rect">
            <a:avLst/>
          </a:prstGeom>
        </p:spPr>
      </p:pic>
    </p:spTree>
    <p:extLst>
      <p:ext uri="{BB962C8B-B14F-4D97-AF65-F5344CB8AC3E}">
        <p14:creationId xmlns:p14="http://schemas.microsoft.com/office/powerpoint/2010/main" val="914193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79C8A1-C4E4-4DE9-934E-91221AC99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4D906-FC96-4830-8E40-71AC8544E0E8}"/>
              </a:ext>
            </a:extLst>
          </p:cNvPr>
          <p:cNvSpPr>
            <a:spLocks noGrp="1"/>
          </p:cNvSpPr>
          <p:nvPr>
            <p:ph type="title"/>
          </p:nvPr>
        </p:nvSpPr>
        <p:spPr>
          <a:xfrm>
            <a:off x="4378385" y="322219"/>
            <a:ext cx="7142627" cy="1099562"/>
          </a:xfrm>
        </p:spPr>
        <p:txBody>
          <a:bodyPr wrap="square" anchor="b">
            <a:noAutofit/>
          </a:bodyPr>
          <a:lstStyle/>
          <a:p>
            <a:pPr algn="ctr"/>
            <a:br>
              <a:rPr lang="en-GB" sz="4000" b="1" dirty="0"/>
            </a:br>
            <a:r>
              <a:rPr lang="en-GB" sz="4000" b="1"/>
              <a:t>Background of Sustainable Supply Chain Management </a:t>
            </a:r>
            <a:endParaRPr lang="en-GB" sz="4000" b="1">
              <a:ea typeface="+mj-lt"/>
              <a:cs typeface="+mj-lt"/>
            </a:endParaRPr>
          </a:p>
        </p:txBody>
      </p:sp>
      <p:pic>
        <p:nvPicPr>
          <p:cNvPr id="5" name="Picture 4" descr="Cardboard boxes on conveyor belt">
            <a:extLst>
              <a:ext uri="{FF2B5EF4-FFF2-40B4-BE49-F238E27FC236}">
                <a16:creationId xmlns:a16="http://schemas.microsoft.com/office/drawing/2014/main" id="{EDF46A81-B370-4D43-BEB3-B784B309E6A0}"/>
              </a:ext>
            </a:extLst>
          </p:cNvPr>
          <p:cNvPicPr>
            <a:picLocks noChangeAspect="1"/>
          </p:cNvPicPr>
          <p:nvPr/>
        </p:nvPicPr>
        <p:blipFill rotWithShape="1">
          <a:blip r:embed="rId2"/>
          <a:srcRect l="35877" r="26570" b="-3"/>
          <a:stretch/>
        </p:blipFill>
        <p:spPr>
          <a:xfrm>
            <a:off x="20" y="10"/>
            <a:ext cx="3863955" cy="6857989"/>
          </a:xfrm>
          <a:prstGeom prst="rect">
            <a:avLst/>
          </a:prstGeom>
        </p:spPr>
      </p:pic>
      <p:cxnSp>
        <p:nvCxnSpPr>
          <p:cNvPr id="11" name="Straight Connector 10">
            <a:extLst>
              <a:ext uri="{FF2B5EF4-FFF2-40B4-BE49-F238E27FC236}">
                <a16:creationId xmlns:a16="http://schemas.microsoft.com/office/drawing/2014/main" id="{26C7ED5D-77C4-4564-8B1A-E55609CF4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7986" y="1964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38339B5-645C-4364-BC01-062D4688DB66}"/>
              </a:ext>
            </a:extLst>
          </p:cNvPr>
          <p:cNvSpPr>
            <a:spLocks noGrp="1"/>
          </p:cNvSpPr>
          <p:nvPr>
            <p:ph idx="1"/>
          </p:nvPr>
        </p:nvSpPr>
        <p:spPr>
          <a:xfrm>
            <a:off x="4200932" y="1661907"/>
            <a:ext cx="7810684" cy="5118675"/>
          </a:xfrm>
        </p:spPr>
        <p:txBody>
          <a:bodyPr vert="horz" lIns="91440" tIns="45720" rIns="91440" bIns="45720" rtlCol="0" anchor="t">
            <a:normAutofit/>
          </a:bodyPr>
          <a:lstStyle/>
          <a:p>
            <a:pPr marL="0" indent="0" algn="just">
              <a:buNone/>
            </a:pPr>
            <a:r>
              <a:rPr lang="en-GB" b="1" dirty="0">
                <a:solidFill>
                  <a:srgbClr val="000000"/>
                </a:solidFill>
                <a:ea typeface="+mn-lt"/>
                <a:cs typeface="+mn-lt"/>
              </a:rPr>
              <a:t>Supply chain management (SCM)</a:t>
            </a:r>
            <a:r>
              <a:rPr lang="en-GB" dirty="0">
                <a:solidFill>
                  <a:srgbClr val="000000"/>
                </a:solidFill>
                <a:ea typeface="+mn-lt"/>
                <a:cs typeface="+mn-lt"/>
              </a:rPr>
              <a:t> is the management of products or services from the design phase to the different production stages starting with raw material extraction and ending with the delivery of the product/service to the end consumer</a:t>
            </a:r>
            <a:endParaRPr lang="en-US">
              <a:solidFill>
                <a:srgbClr val="000000">
                  <a:alpha val="60000"/>
                </a:srgbClr>
              </a:solidFill>
            </a:endParaRPr>
          </a:p>
          <a:p>
            <a:pPr marL="0" indent="0" algn="just">
              <a:buNone/>
            </a:pPr>
            <a:r>
              <a:rPr lang="en-GB" dirty="0">
                <a:solidFill>
                  <a:srgbClr val="000000"/>
                </a:solidFill>
                <a:ea typeface="+mn-lt"/>
                <a:cs typeface="+mn-lt"/>
              </a:rPr>
              <a:t>This includes the management of material, information, and capital flows as well as the management of human resources (HR) to deliver the product/service to the consumers at a low cost, quickly and at the right place, while still ensuring the quality of the product/service.</a:t>
            </a:r>
            <a:endParaRPr lang="en-GB" dirty="0">
              <a:solidFill>
                <a:srgbClr val="000000"/>
              </a:solidFill>
            </a:endParaRPr>
          </a:p>
        </p:txBody>
      </p:sp>
    </p:spTree>
    <p:extLst>
      <p:ext uri="{BB962C8B-B14F-4D97-AF65-F5344CB8AC3E}">
        <p14:creationId xmlns:p14="http://schemas.microsoft.com/office/powerpoint/2010/main" val="1826723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79C8A1-C4E4-4DE9-934E-91221AC99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0F00A3-F2F7-4990-BDBC-C63D00200F8D}"/>
              </a:ext>
            </a:extLst>
          </p:cNvPr>
          <p:cNvSpPr>
            <a:spLocks noGrp="1"/>
          </p:cNvSpPr>
          <p:nvPr>
            <p:ph type="title"/>
          </p:nvPr>
        </p:nvSpPr>
        <p:spPr>
          <a:xfrm>
            <a:off x="4441015" y="196959"/>
            <a:ext cx="7288765" cy="1235260"/>
          </a:xfrm>
        </p:spPr>
        <p:txBody>
          <a:bodyPr vert="horz" wrap="square" lIns="91440" tIns="45720" rIns="91440" bIns="45720" rtlCol="0" anchor="b" anchorCtr="0">
            <a:noAutofit/>
          </a:bodyPr>
          <a:lstStyle/>
          <a:p>
            <a:pPr algn="ctr"/>
            <a:r>
              <a:rPr lang="en-GB" sz="4000" b="1">
                <a:ea typeface="+mj-lt"/>
                <a:cs typeface="+mj-lt"/>
              </a:rPr>
              <a:t>Background of Sustainable Supply Chain Management - </a:t>
            </a:r>
            <a:r>
              <a:rPr lang="en-GB" sz="4000" b="1" err="1">
                <a:ea typeface="+mj-lt"/>
                <a:cs typeface="+mj-lt"/>
              </a:rPr>
              <a:t>Contd</a:t>
            </a:r>
            <a:endParaRPr lang="en-US" sz="4000" b="1"/>
          </a:p>
        </p:txBody>
      </p:sp>
      <p:pic>
        <p:nvPicPr>
          <p:cNvPr id="5" name="Picture 4" descr="Metallic spheres connected in mesh">
            <a:extLst>
              <a:ext uri="{FF2B5EF4-FFF2-40B4-BE49-F238E27FC236}">
                <a16:creationId xmlns:a16="http://schemas.microsoft.com/office/drawing/2014/main" id="{A0ABCD50-06FF-4B63-A827-DC63F4DB0805}"/>
              </a:ext>
            </a:extLst>
          </p:cNvPr>
          <p:cNvPicPr>
            <a:picLocks noChangeAspect="1"/>
          </p:cNvPicPr>
          <p:nvPr/>
        </p:nvPicPr>
        <p:blipFill rotWithShape="1">
          <a:blip r:embed="rId2"/>
          <a:srcRect l="31789" r="30658" b="-3"/>
          <a:stretch/>
        </p:blipFill>
        <p:spPr>
          <a:xfrm>
            <a:off x="20" y="10"/>
            <a:ext cx="3863955" cy="6857989"/>
          </a:xfrm>
          <a:prstGeom prst="rect">
            <a:avLst/>
          </a:prstGeom>
        </p:spPr>
      </p:pic>
      <p:cxnSp>
        <p:nvCxnSpPr>
          <p:cNvPr id="11" name="Straight Connector 10">
            <a:extLst>
              <a:ext uri="{FF2B5EF4-FFF2-40B4-BE49-F238E27FC236}">
                <a16:creationId xmlns:a16="http://schemas.microsoft.com/office/drawing/2014/main" id="{26C7ED5D-77C4-4564-8B1A-E55609CF4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7986" y="1964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1539B12-AC02-4D96-A927-90C55448B841}"/>
              </a:ext>
            </a:extLst>
          </p:cNvPr>
          <p:cNvSpPr>
            <a:spLocks noGrp="1"/>
          </p:cNvSpPr>
          <p:nvPr>
            <p:ph idx="1"/>
          </p:nvPr>
        </p:nvSpPr>
        <p:spPr>
          <a:xfrm>
            <a:off x="4534959" y="1432263"/>
            <a:ext cx="7507971" cy="5149990"/>
          </a:xfrm>
        </p:spPr>
        <p:txBody>
          <a:bodyPr vert="horz" lIns="91440" tIns="45720" rIns="91440" bIns="45720" rtlCol="0" anchor="t">
            <a:normAutofit fontScale="92500" lnSpcReduction="20000"/>
          </a:bodyPr>
          <a:lstStyle/>
          <a:p>
            <a:pPr marL="0" indent="0" algn="just">
              <a:lnSpc>
                <a:spcPct val="140000"/>
              </a:lnSpc>
              <a:buNone/>
            </a:pPr>
            <a:r>
              <a:rPr lang="en-GB" b="1" dirty="0">
                <a:solidFill>
                  <a:srgbClr val="000000"/>
                </a:solidFill>
                <a:ea typeface="+mn-lt"/>
                <a:cs typeface="+mn-lt"/>
              </a:rPr>
              <a:t>Sustainable supply chain management </a:t>
            </a:r>
            <a:r>
              <a:rPr lang="en-GB" dirty="0">
                <a:solidFill>
                  <a:srgbClr val="000000"/>
                </a:solidFill>
                <a:ea typeface="+mn-lt"/>
                <a:cs typeface="+mn-lt"/>
              </a:rPr>
              <a:t>(SSCM) is the management of supply chains (SC) in a way that integrates the sustainability objectives and requirements defined by the firm, suppliers, customers, and external stakeholders</a:t>
            </a:r>
            <a:endParaRPr lang="en-GB" dirty="0"/>
          </a:p>
          <a:p>
            <a:pPr marL="0" indent="0" algn="just">
              <a:lnSpc>
                <a:spcPct val="140000"/>
              </a:lnSpc>
              <a:buNone/>
            </a:pPr>
            <a:r>
              <a:rPr lang="en-GB" dirty="0">
                <a:solidFill>
                  <a:srgbClr val="000000"/>
                </a:solidFill>
                <a:ea typeface="+mn-lt"/>
                <a:cs typeface="+mn-lt"/>
              </a:rPr>
              <a:t>These sustainable objectives include </a:t>
            </a:r>
            <a:r>
              <a:rPr lang="en-GB" b="1" dirty="0">
                <a:solidFill>
                  <a:srgbClr val="000000"/>
                </a:solidFill>
                <a:ea typeface="+mn-lt"/>
                <a:cs typeface="+mn-lt"/>
              </a:rPr>
              <a:t>economic, social,  environmental and ethical target</a:t>
            </a:r>
            <a:r>
              <a:rPr lang="en-GB" dirty="0">
                <a:solidFill>
                  <a:srgbClr val="000000"/>
                </a:solidFill>
                <a:ea typeface="+mn-lt"/>
                <a:cs typeface="+mn-lt"/>
              </a:rPr>
              <a:t> where all the members of the supply chain must reach</a:t>
            </a:r>
            <a:endParaRPr lang="en-GB" b="1" dirty="0">
              <a:solidFill>
                <a:srgbClr val="002060"/>
              </a:solidFill>
              <a:ea typeface="+mn-lt"/>
              <a:cs typeface="+mn-lt"/>
            </a:endParaRPr>
          </a:p>
          <a:p>
            <a:pPr marL="0" indent="0" algn="just">
              <a:lnSpc>
                <a:spcPct val="140000"/>
              </a:lnSpc>
              <a:buNone/>
            </a:pPr>
            <a:r>
              <a:rPr lang="en-GB" dirty="0">
                <a:solidFill>
                  <a:srgbClr val="000000"/>
                </a:solidFill>
                <a:ea typeface="+mn-lt"/>
                <a:cs typeface="+mn-lt"/>
              </a:rPr>
              <a:t>Consequently, confusion is common between terms such as </a:t>
            </a:r>
            <a:r>
              <a:rPr lang="en-GB" b="1" dirty="0">
                <a:solidFill>
                  <a:schemeClr val="tx1"/>
                </a:solidFill>
                <a:ea typeface="+mn-lt"/>
                <a:cs typeface="+mn-lt"/>
              </a:rPr>
              <a:t>green supply chain management (GSCM)</a:t>
            </a:r>
            <a:r>
              <a:rPr lang="en-GB" dirty="0">
                <a:solidFill>
                  <a:schemeClr val="tx1"/>
                </a:solidFill>
                <a:ea typeface="+mn-lt"/>
                <a:cs typeface="+mn-lt"/>
              </a:rPr>
              <a:t> and </a:t>
            </a:r>
            <a:r>
              <a:rPr lang="en-GB" b="1" dirty="0">
                <a:solidFill>
                  <a:schemeClr val="tx1"/>
                </a:solidFill>
                <a:ea typeface="+mn-lt"/>
                <a:cs typeface="+mn-lt"/>
              </a:rPr>
              <a:t>sustainable supply chain management (SSCM)</a:t>
            </a:r>
            <a:endParaRPr lang="en-GB" dirty="0">
              <a:solidFill>
                <a:schemeClr val="tx1"/>
              </a:solidFill>
              <a:ea typeface="+mn-lt"/>
              <a:cs typeface="+mn-lt"/>
            </a:endParaRPr>
          </a:p>
          <a:p>
            <a:pPr marL="0" indent="0" algn="just">
              <a:lnSpc>
                <a:spcPct val="140000"/>
              </a:lnSpc>
              <a:buNone/>
            </a:pPr>
            <a:r>
              <a:rPr lang="en-GB" dirty="0">
                <a:solidFill>
                  <a:srgbClr val="000000"/>
                </a:solidFill>
                <a:ea typeface="+mn-lt"/>
                <a:cs typeface="+mn-lt"/>
              </a:rPr>
              <a:t>GSCM will be used to refer only to environmental performance of SC, while SSCM will be used to refer to the economic, environmental, and social performance of SC.</a:t>
            </a:r>
            <a:endParaRPr lang="en-GB" dirty="0">
              <a:solidFill>
                <a:srgbClr val="000000"/>
              </a:solidFill>
            </a:endParaRPr>
          </a:p>
          <a:p>
            <a:pPr marL="359410" indent="-359410" algn="just">
              <a:lnSpc>
                <a:spcPct val="110000"/>
              </a:lnSpc>
              <a:buNone/>
            </a:pPr>
            <a:endParaRPr lang="en-GB" dirty="0">
              <a:solidFill>
                <a:srgbClr val="000000"/>
              </a:solidFill>
            </a:endParaRPr>
          </a:p>
        </p:txBody>
      </p:sp>
    </p:spTree>
    <p:extLst>
      <p:ext uri="{BB962C8B-B14F-4D97-AF65-F5344CB8AC3E}">
        <p14:creationId xmlns:p14="http://schemas.microsoft.com/office/powerpoint/2010/main" val="1136111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331FF-A3C4-4B70-B253-C93C8E68B048}"/>
              </a:ext>
            </a:extLst>
          </p:cNvPr>
          <p:cNvSpPr>
            <a:spLocks noGrp="1"/>
          </p:cNvSpPr>
          <p:nvPr>
            <p:ph type="title"/>
          </p:nvPr>
        </p:nvSpPr>
        <p:spPr>
          <a:xfrm>
            <a:off x="207122" y="425178"/>
            <a:ext cx="3761195" cy="2303213"/>
          </a:xfrm>
        </p:spPr>
        <p:txBody>
          <a:bodyPr anchor="ctr">
            <a:normAutofit fontScale="90000"/>
          </a:bodyPr>
          <a:lstStyle/>
          <a:p>
            <a:pPr algn="ctr"/>
            <a:r>
              <a:rPr lang="en-GB" b="1" dirty="0"/>
              <a:t>Sustainable Supply Chain </a:t>
            </a:r>
            <a:br>
              <a:rPr lang="en-GB" b="1" dirty="0"/>
            </a:br>
            <a:r>
              <a:rPr lang="en-GB" b="1" dirty="0"/>
              <a:t>Management vs Sustainability Development Goals </a:t>
            </a:r>
          </a:p>
        </p:txBody>
      </p:sp>
      <p:cxnSp>
        <p:nvCxnSpPr>
          <p:cNvPr id="11" name="Straight Connector 10">
            <a:extLst>
              <a:ext uri="{FF2B5EF4-FFF2-40B4-BE49-F238E27FC236}">
                <a16:creationId xmlns:a16="http://schemas.microsoft.com/office/drawing/2014/main" id="{3A513CAD-9784-4D35-BAF9-1F7DDD697B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4714750" y="169160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912F0B8-B260-4412-B21F-8CE4ACA5EEA1}"/>
              </a:ext>
            </a:extLst>
          </p:cNvPr>
          <p:cNvSpPr>
            <a:spLocks noGrp="1"/>
          </p:cNvSpPr>
          <p:nvPr>
            <p:ph idx="1"/>
          </p:nvPr>
        </p:nvSpPr>
        <p:spPr>
          <a:xfrm>
            <a:off x="3831663" y="209918"/>
            <a:ext cx="8163814" cy="3600902"/>
          </a:xfrm>
        </p:spPr>
        <p:txBody>
          <a:bodyPr vert="horz" lIns="91440" tIns="45720" rIns="91440" bIns="45720" rtlCol="0" anchor="ctr">
            <a:normAutofit fontScale="92500" lnSpcReduction="10000"/>
          </a:bodyPr>
          <a:lstStyle/>
          <a:p>
            <a:pPr marL="359410" indent="-359410" algn="just">
              <a:lnSpc>
                <a:spcPct val="140000"/>
              </a:lnSpc>
              <a:buNone/>
            </a:pPr>
            <a:r>
              <a:rPr lang="en-GB" sz="1100" dirty="0">
                <a:solidFill>
                  <a:srgbClr val="000000"/>
                </a:solidFill>
                <a:ea typeface="+mn-lt"/>
                <a:cs typeface="+mn-lt"/>
              </a:rPr>
              <a:t>         </a:t>
            </a:r>
            <a:r>
              <a:rPr lang="en-GB" sz="1800" dirty="0">
                <a:solidFill>
                  <a:srgbClr val="000000"/>
                </a:solidFill>
                <a:ea typeface="+mn-lt"/>
                <a:cs typeface="+mn-lt"/>
              </a:rPr>
              <a:t>It is argued here that integrating the three pillars of sustainability into SCM to make sustainable in alignment with the 12th Sustainable Development Goal (SDG) is not enough today as complexity grew among global SCs, and according to the 17th SDG, there is also a necessity to engage more with stakeholders into the development of sustainable SCs</a:t>
            </a:r>
          </a:p>
          <a:p>
            <a:pPr marL="359410" indent="-359410" algn="just">
              <a:lnSpc>
                <a:spcPct val="140000"/>
              </a:lnSpc>
              <a:buNone/>
            </a:pPr>
            <a:r>
              <a:rPr lang="en-GB" sz="1800" dirty="0">
                <a:solidFill>
                  <a:srgbClr val="000000"/>
                </a:solidFill>
                <a:ea typeface="+mn-lt"/>
                <a:cs typeface="+mn-lt"/>
              </a:rPr>
              <a:t>     There is a need to </a:t>
            </a:r>
            <a:r>
              <a:rPr lang="en-GB" sz="1800" dirty="0" err="1">
                <a:solidFill>
                  <a:srgbClr val="000000"/>
                </a:solidFill>
                <a:ea typeface="+mn-lt"/>
                <a:cs typeface="+mn-lt"/>
              </a:rPr>
              <a:t>analyze</a:t>
            </a:r>
            <a:r>
              <a:rPr lang="en-GB" sz="1800" dirty="0">
                <a:solidFill>
                  <a:srgbClr val="000000"/>
                </a:solidFill>
                <a:ea typeface="+mn-lt"/>
                <a:cs typeface="+mn-lt"/>
              </a:rPr>
              <a:t> SCs in a holistic manner that includes not only the individual companies forming a SC but also SCs direct and indirect stakeholders such as the media, the general public, governmental bodies, research, and education organizations</a:t>
            </a:r>
            <a:endParaRPr lang="en-GB" sz="1800" dirty="0">
              <a:solidFill>
                <a:srgbClr val="000000"/>
              </a:solidFill>
            </a:endParaRPr>
          </a:p>
          <a:p>
            <a:pPr marL="0" indent="0" algn="just">
              <a:lnSpc>
                <a:spcPct val="140000"/>
              </a:lnSpc>
              <a:buNone/>
            </a:pPr>
            <a:endParaRPr lang="en-GB" sz="1800" dirty="0"/>
          </a:p>
        </p:txBody>
      </p:sp>
      <p:pic>
        <p:nvPicPr>
          <p:cNvPr id="4" name="Picture 4" descr="A picture containing text&#10;&#10;Description automatically generated">
            <a:extLst>
              <a:ext uri="{FF2B5EF4-FFF2-40B4-BE49-F238E27FC236}">
                <a16:creationId xmlns:a16="http://schemas.microsoft.com/office/drawing/2014/main" id="{8E172E3A-0C1A-4677-BDF3-6304894DDCD0}"/>
              </a:ext>
            </a:extLst>
          </p:cNvPr>
          <p:cNvPicPr>
            <a:picLocks noChangeAspect="1"/>
          </p:cNvPicPr>
          <p:nvPr/>
        </p:nvPicPr>
        <p:blipFill rotWithShape="1">
          <a:blip r:embed="rId2"/>
          <a:srcRect t="12906" b="27883"/>
          <a:stretch/>
        </p:blipFill>
        <p:spPr>
          <a:xfrm>
            <a:off x="20" y="3637767"/>
            <a:ext cx="12191977" cy="3220233"/>
          </a:xfrm>
          <a:prstGeom prst="rect">
            <a:avLst/>
          </a:prstGeom>
        </p:spPr>
      </p:pic>
    </p:spTree>
    <p:extLst>
      <p:ext uri="{BB962C8B-B14F-4D97-AF65-F5344CB8AC3E}">
        <p14:creationId xmlns:p14="http://schemas.microsoft.com/office/powerpoint/2010/main" val="203235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3BC82-92E4-48FB-ACBE-B83A98319E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5C942C-8C76-4793-993B-4D56B1E82078}"/>
              </a:ext>
            </a:extLst>
          </p:cNvPr>
          <p:cNvSpPr>
            <a:spLocks noGrp="1"/>
          </p:cNvSpPr>
          <p:nvPr>
            <p:ph idx="1"/>
          </p:nvPr>
        </p:nvSpPr>
        <p:spPr/>
        <p:txBody>
          <a:bodyPr/>
          <a:lstStyle/>
          <a:p>
            <a:endParaRPr lang="en-US"/>
          </a:p>
        </p:txBody>
      </p:sp>
      <p:pic>
        <p:nvPicPr>
          <p:cNvPr id="2050" name="Picture 2" descr="Raw Materials Information System">
            <a:extLst>
              <a:ext uri="{FF2B5EF4-FFF2-40B4-BE49-F238E27FC236}">
                <a16:creationId xmlns:a16="http://schemas.microsoft.com/office/drawing/2014/main" id="{6322C175-4E09-4BD0-A1E5-23E0EF179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995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B65AA36A-D7CC-493C-A0EE-F8AC3564D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9CA996-A8F0-41EC-816A-0AF26C7365F0}"/>
              </a:ext>
            </a:extLst>
          </p:cNvPr>
          <p:cNvSpPr>
            <a:spLocks noGrp="1"/>
          </p:cNvSpPr>
          <p:nvPr>
            <p:ph type="title"/>
          </p:nvPr>
        </p:nvSpPr>
        <p:spPr>
          <a:xfrm>
            <a:off x="6747027" y="311790"/>
            <a:ext cx="4809484" cy="1124556"/>
          </a:xfrm>
        </p:spPr>
        <p:txBody>
          <a:bodyPr vert="horz" wrap="square" lIns="91440" tIns="45720" rIns="91440" bIns="45720" rtlCol="0" anchor="b" anchorCtr="0">
            <a:noAutofit/>
          </a:bodyPr>
          <a:lstStyle/>
          <a:p>
            <a:pPr algn="ctr"/>
            <a:r>
              <a:rPr lang="en-US" sz="3600" b="1" kern="1200" cap="none" spc="0" baseline="0" dirty="0">
                <a:latin typeface="+mj-lt"/>
                <a:ea typeface="+mj-ea"/>
                <a:cs typeface="+mj-cs"/>
              </a:rPr>
              <a:t>Reverse Logistics and Other Preceding Terms</a:t>
            </a:r>
            <a:endParaRPr lang="en-US" sz="3600" b="1" kern="1200" cap="none" spc="0" baseline="0" dirty="0">
              <a:latin typeface="+mj-lt"/>
            </a:endParaRPr>
          </a:p>
        </p:txBody>
      </p:sp>
      <p:pic>
        <p:nvPicPr>
          <p:cNvPr id="5" name="Picture 4" descr="Cargo shipping containers in a pile and on a semi-truck at a harbour">
            <a:extLst>
              <a:ext uri="{FF2B5EF4-FFF2-40B4-BE49-F238E27FC236}">
                <a16:creationId xmlns:a16="http://schemas.microsoft.com/office/drawing/2014/main" id="{981BBC2B-79CA-4D2C-87C2-490A10A4A4E8}"/>
              </a:ext>
            </a:extLst>
          </p:cNvPr>
          <p:cNvPicPr>
            <a:picLocks noChangeAspect="1"/>
          </p:cNvPicPr>
          <p:nvPr/>
        </p:nvPicPr>
        <p:blipFill rotWithShape="1">
          <a:blip r:embed="rId2"/>
          <a:srcRect l="12500" r="12500"/>
          <a:stretch/>
        </p:blipFill>
        <p:spPr>
          <a:xfrm>
            <a:off x="159927" y="499895"/>
            <a:ext cx="5778000" cy="5778000"/>
          </a:xfrm>
          <a:custGeom>
            <a:avLst/>
            <a:gdLst/>
            <a:ahLst/>
            <a:cxnLst/>
            <a:rect l="l" t="t" r="r" b="b"/>
            <a:pathLst>
              <a:path w="5778000" h="5778000">
                <a:moveTo>
                  <a:pt x="2889000" y="0"/>
                </a:moveTo>
                <a:cubicBezTo>
                  <a:pt x="4484551" y="0"/>
                  <a:pt x="5778000" y="1293449"/>
                  <a:pt x="5778000" y="2889000"/>
                </a:cubicBezTo>
                <a:cubicBezTo>
                  <a:pt x="5778000" y="4484551"/>
                  <a:pt x="4484551" y="5778000"/>
                  <a:pt x="2889000" y="5778000"/>
                </a:cubicBezTo>
                <a:cubicBezTo>
                  <a:pt x="1293449" y="5778000"/>
                  <a:pt x="0" y="4484551"/>
                  <a:pt x="0" y="2889000"/>
                </a:cubicBezTo>
                <a:cubicBezTo>
                  <a:pt x="0" y="1293449"/>
                  <a:pt x="1293449" y="0"/>
                  <a:pt x="2889000" y="0"/>
                </a:cubicBezTo>
                <a:close/>
              </a:path>
            </a:pathLst>
          </a:custGeom>
        </p:spPr>
      </p:pic>
      <p:cxnSp>
        <p:nvCxnSpPr>
          <p:cNvPr id="88" name="Straight Connector 87">
            <a:extLst>
              <a:ext uri="{FF2B5EF4-FFF2-40B4-BE49-F238E27FC236}">
                <a16:creationId xmlns:a16="http://schemas.microsoft.com/office/drawing/2014/main" id="{1850A2DA-FC3C-4E59-9724-29CF2777D3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C02BFBD-386B-44A3-96E5-72E368C8941A}"/>
              </a:ext>
            </a:extLst>
          </p:cNvPr>
          <p:cNvSpPr txBox="1"/>
          <p:nvPr/>
        </p:nvSpPr>
        <p:spPr>
          <a:xfrm>
            <a:off x="6227855" y="1603539"/>
            <a:ext cx="5804217" cy="486389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lgn="just"/>
            <a:r>
              <a:rPr lang="en-US" sz="2000" b="1" spc="50" dirty="0">
                <a:ea typeface="+mn-lt"/>
                <a:cs typeface="+mn-lt"/>
              </a:rPr>
              <a:t>The effective and efficient management of the series of activities required to retrieve a product from a customer to either dispose of it or recover value</a:t>
            </a:r>
          </a:p>
          <a:p>
            <a:pPr algn="just"/>
            <a:endParaRPr lang="en-US" sz="2000" spc="50" dirty="0">
              <a:solidFill>
                <a:schemeClr val="tx1">
                  <a:alpha val="60000"/>
                </a:schemeClr>
              </a:solidFill>
            </a:endParaRPr>
          </a:p>
          <a:p>
            <a:pPr algn="just"/>
            <a:r>
              <a:rPr lang="en-US" sz="2000" spc="50" dirty="0">
                <a:ea typeface="+mn-lt"/>
                <a:cs typeface="+mn-lt"/>
              </a:rPr>
              <a:t>Reverse logistics can be considered as part of green supply chain management (GSCM), the latter being part of sustainable supply chain management (SSCM) reverse logistics is the management of the reverse flows of SCs. </a:t>
            </a:r>
            <a:endParaRPr lang="en-US" dirty="0">
              <a:ea typeface="+mn-lt"/>
              <a:cs typeface="+mn-lt"/>
            </a:endParaRPr>
          </a:p>
          <a:p>
            <a:pPr algn="just"/>
            <a:endParaRPr lang="en-US" sz="2000" spc="50" dirty="0">
              <a:ea typeface="+mn-lt"/>
              <a:cs typeface="+mn-lt"/>
            </a:endParaRPr>
          </a:p>
          <a:p>
            <a:pPr algn="just"/>
            <a:r>
              <a:rPr lang="en-US" sz="2000" spc="50" dirty="0">
                <a:ea typeface="+mn-lt"/>
                <a:cs typeface="+mn-lt"/>
              </a:rPr>
              <a:t>Reverse flows management consists of </a:t>
            </a:r>
            <a:r>
              <a:rPr lang="en-US" sz="2000" b="1" spc="50" dirty="0">
                <a:ea typeface="+mn-lt"/>
                <a:cs typeface="+mn-lt"/>
              </a:rPr>
              <a:t>returning the used product or material to the manufacturing organization</a:t>
            </a:r>
            <a:r>
              <a:rPr lang="en-US" sz="2000" spc="50" dirty="0">
                <a:ea typeface="+mn-lt"/>
                <a:cs typeface="+mn-lt"/>
              </a:rPr>
              <a:t>, which then reprocesses or disposes it in the most efficient and effective manner</a:t>
            </a:r>
            <a:endParaRPr lang="en-US" dirty="0"/>
          </a:p>
        </p:txBody>
      </p:sp>
    </p:spTree>
    <p:extLst>
      <p:ext uri="{BB962C8B-B14F-4D97-AF65-F5344CB8AC3E}">
        <p14:creationId xmlns:p14="http://schemas.microsoft.com/office/powerpoint/2010/main" val="8827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3A87-5CF0-47BF-8EC7-48E9AECAC5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8C2A55-5A96-4AB6-89C5-D638B4414B1B}"/>
              </a:ext>
            </a:extLst>
          </p:cNvPr>
          <p:cNvSpPr>
            <a:spLocks noGrp="1"/>
          </p:cNvSpPr>
          <p:nvPr>
            <p:ph idx="1"/>
          </p:nvPr>
        </p:nvSpPr>
        <p:spPr/>
        <p:txBody>
          <a:bodyPr/>
          <a:lstStyle/>
          <a:p>
            <a:endParaRPr lang="en-US"/>
          </a:p>
        </p:txBody>
      </p:sp>
      <p:pic>
        <p:nvPicPr>
          <p:cNvPr id="1026" name="Picture 2" descr="What is Reverse Logistics? Is It Different than Traditional Logistics?">
            <a:extLst>
              <a:ext uri="{FF2B5EF4-FFF2-40B4-BE49-F238E27FC236}">
                <a16:creationId xmlns:a16="http://schemas.microsoft.com/office/drawing/2014/main" id="{125EA935-D240-44C5-87D3-89149B4DD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2" y="0"/>
            <a:ext cx="12208352" cy="675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875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5FAEE8-9ED9-4FE3-AB76-4254D8587BFF}"/>
              </a:ext>
            </a:extLst>
          </p:cNvPr>
          <p:cNvSpPr>
            <a:spLocks noGrp="1"/>
          </p:cNvSpPr>
          <p:nvPr>
            <p:ph type="title"/>
          </p:nvPr>
        </p:nvSpPr>
        <p:spPr>
          <a:xfrm>
            <a:off x="92302" y="254740"/>
            <a:ext cx="5999457" cy="1118975"/>
          </a:xfrm>
        </p:spPr>
        <p:txBody>
          <a:bodyPr wrap="square" anchor="b">
            <a:noAutofit/>
          </a:bodyPr>
          <a:lstStyle/>
          <a:p>
            <a:pPr algn="ctr">
              <a:lnSpc>
                <a:spcPct val="90000"/>
              </a:lnSpc>
            </a:pPr>
            <a:r>
              <a:rPr lang="en-US" sz="3600" b="1"/>
              <a:t>Reverse Logistics and Other Preceding Terms</a:t>
            </a:r>
            <a:endParaRPr lang="en-GB" sz="3600" b="1">
              <a:ea typeface="+mj-lt"/>
              <a:cs typeface="+mj-lt"/>
            </a:endParaRPr>
          </a:p>
        </p:txBody>
      </p:sp>
      <p:cxnSp>
        <p:nvCxnSpPr>
          <p:cNvPr id="11" name="Straight Connector 10">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0DA4EF6-DC4F-444F-A84B-E4E48AED6CB4}"/>
              </a:ext>
            </a:extLst>
          </p:cNvPr>
          <p:cNvSpPr>
            <a:spLocks noGrp="1"/>
          </p:cNvSpPr>
          <p:nvPr>
            <p:ph idx="1"/>
          </p:nvPr>
        </p:nvSpPr>
        <p:spPr>
          <a:xfrm>
            <a:off x="311507" y="1467839"/>
            <a:ext cx="5627654" cy="5225923"/>
          </a:xfrm>
        </p:spPr>
        <p:txBody>
          <a:bodyPr vert="horz" lIns="91440" tIns="45720" rIns="91440" bIns="45720" rtlCol="0" anchor="t">
            <a:normAutofit/>
          </a:bodyPr>
          <a:lstStyle/>
          <a:p>
            <a:pPr marL="0" indent="0" algn="just">
              <a:lnSpc>
                <a:spcPct val="140000"/>
              </a:lnSpc>
              <a:buNone/>
            </a:pPr>
            <a:r>
              <a:rPr lang="en-GB" dirty="0">
                <a:solidFill>
                  <a:srgbClr val="000000"/>
                </a:solidFill>
                <a:ea typeface="+mn-lt"/>
                <a:cs typeface="+mn-lt"/>
              </a:rPr>
              <a:t>In order to manage the reverse flows of an organization, there is a need to capture the goods/materials/services from customers and it requires an investment    </a:t>
            </a:r>
            <a:endParaRPr lang="en-US" dirty="0">
              <a:solidFill>
                <a:srgbClr val="000000"/>
              </a:solidFill>
              <a:ea typeface="+mn-lt"/>
              <a:cs typeface="+mn-lt"/>
            </a:endParaRPr>
          </a:p>
          <a:p>
            <a:pPr marL="0" indent="0" algn="just">
              <a:lnSpc>
                <a:spcPct val="140000"/>
              </a:lnSpc>
              <a:buNone/>
            </a:pPr>
            <a:r>
              <a:rPr lang="en-GB" dirty="0">
                <a:solidFill>
                  <a:srgbClr val="000000"/>
                </a:solidFill>
                <a:ea typeface="+mn-lt"/>
                <a:cs typeface="+mn-lt"/>
              </a:rPr>
              <a:t>In some sectors, </a:t>
            </a:r>
            <a:r>
              <a:rPr lang="en-GB" b="1" dirty="0">
                <a:solidFill>
                  <a:srgbClr val="000000"/>
                </a:solidFill>
                <a:ea typeface="+mn-lt"/>
                <a:cs typeface="+mn-lt"/>
              </a:rPr>
              <a:t>reverse logistics is required and regulated by governments</a:t>
            </a:r>
            <a:r>
              <a:rPr lang="en-GB" dirty="0">
                <a:solidFill>
                  <a:srgbClr val="000000"/>
                </a:solidFill>
                <a:ea typeface="+mn-lt"/>
                <a:cs typeface="+mn-lt"/>
              </a:rPr>
              <a:t>   </a:t>
            </a:r>
            <a:endParaRPr lang="en-US" dirty="0">
              <a:ea typeface="+mn-lt"/>
              <a:cs typeface="+mn-lt"/>
            </a:endParaRPr>
          </a:p>
          <a:p>
            <a:pPr marL="0" indent="0" algn="just">
              <a:lnSpc>
                <a:spcPct val="140000"/>
              </a:lnSpc>
              <a:buNone/>
            </a:pPr>
            <a:r>
              <a:rPr lang="en-GB" dirty="0">
                <a:solidFill>
                  <a:srgbClr val="000000"/>
                </a:solidFill>
                <a:ea typeface="+mn-lt"/>
                <a:cs typeface="+mn-lt"/>
              </a:rPr>
              <a:t>In practice, reverse logistics should help reduce inventory costs transportation, and waste disposal  costs  and should encourage customer loyalty</a:t>
            </a:r>
            <a:endParaRPr lang="en-GB" dirty="0">
              <a:solidFill>
                <a:srgbClr val="000000"/>
              </a:solidFill>
            </a:endParaRPr>
          </a:p>
        </p:txBody>
      </p:sp>
      <p:sp>
        <p:nvSpPr>
          <p:cNvPr id="13" name="Rectangle 12">
            <a:extLst>
              <a:ext uri="{FF2B5EF4-FFF2-40B4-BE49-F238E27FC236}">
                <a16:creationId xmlns:a16="http://schemas.microsoft.com/office/drawing/2014/main" id="{E95A6F56-5B66-4656-B01E-938834D6A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4" name="Picture 4" descr="Diagram&#10;&#10;Description automatically generated">
            <a:extLst>
              <a:ext uri="{FF2B5EF4-FFF2-40B4-BE49-F238E27FC236}">
                <a16:creationId xmlns:a16="http://schemas.microsoft.com/office/drawing/2014/main" id="{033C1906-CBFB-42EB-9D38-C3CC96F79CF2}"/>
              </a:ext>
            </a:extLst>
          </p:cNvPr>
          <p:cNvPicPr>
            <a:picLocks noChangeAspect="1"/>
          </p:cNvPicPr>
          <p:nvPr/>
        </p:nvPicPr>
        <p:blipFill>
          <a:blip r:embed="rId2"/>
          <a:stretch>
            <a:fillRect/>
          </a:stretch>
        </p:blipFill>
        <p:spPr>
          <a:xfrm>
            <a:off x="6087457" y="2340198"/>
            <a:ext cx="6033281" cy="2665551"/>
          </a:xfrm>
          <a:prstGeom prst="rect">
            <a:avLst/>
          </a:prstGeom>
        </p:spPr>
      </p:pic>
    </p:spTree>
    <p:extLst>
      <p:ext uri="{BB962C8B-B14F-4D97-AF65-F5344CB8AC3E}">
        <p14:creationId xmlns:p14="http://schemas.microsoft.com/office/powerpoint/2010/main" val="284966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2CD4F-0564-4821-804F-423E8AEE2FFD}"/>
              </a:ext>
            </a:extLst>
          </p:cNvPr>
          <p:cNvSpPr>
            <a:spLocks noGrp="1"/>
          </p:cNvSpPr>
          <p:nvPr>
            <p:ph type="title"/>
          </p:nvPr>
        </p:nvSpPr>
        <p:spPr>
          <a:xfrm>
            <a:off x="541151" y="181670"/>
            <a:ext cx="4600717" cy="1057857"/>
          </a:xfrm>
        </p:spPr>
        <p:txBody>
          <a:bodyPr wrap="square" anchor="b">
            <a:noAutofit/>
          </a:bodyPr>
          <a:lstStyle/>
          <a:p>
            <a:pPr algn="ctr"/>
            <a:r>
              <a:rPr lang="en-GB" b="1" dirty="0">
                <a:ea typeface="+mj-lt"/>
                <a:cs typeface="+mj-lt"/>
              </a:rPr>
              <a:t>Green Supply Chain Management</a:t>
            </a:r>
            <a:endParaRPr lang="en-US" b="1" dirty="0"/>
          </a:p>
        </p:txBody>
      </p:sp>
      <p:cxnSp>
        <p:nvCxnSpPr>
          <p:cNvPr id="18" name="Straight Connector 17">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913BC4-7002-4E5C-A0F0-39215850E89A}"/>
              </a:ext>
            </a:extLst>
          </p:cNvPr>
          <p:cNvSpPr>
            <a:spLocks noGrp="1"/>
          </p:cNvSpPr>
          <p:nvPr>
            <p:ph idx="1"/>
          </p:nvPr>
        </p:nvSpPr>
        <p:spPr>
          <a:xfrm>
            <a:off x="195309" y="1324038"/>
            <a:ext cx="5734974" cy="5294886"/>
          </a:xfrm>
        </p:spPr>
        <p:txBody>
          <a:bodyPr vert="horz" lIns="91440" tIns="45720" rIns="91440" bIns="45720" rtlCol="0" anchor="t">
            <a:noAutofit/>
          </a:bodyPr>
          <a:lstStyle/>
          <a:p>
            <a:pPr marL="0" indent="0" algn="just">
              <a:lnSpc>
                <a:spcPct val="100000"/>
              </a:lnSpc>
              <a:buNone/>
            </a:pPr>
            <a:r>
              <a:rPr lang="en-US" sz="1900" dirty="0">
                <a:solidFill>
                  <a:srgbClr val="000000"/>
                </a:solidFill>
                <a:ea typeface="+mn-lt"/>
                <a:cs typeface="+mn-lt"/>
              </a:rPr>
              <a:t>GSCM refers to all initiatives taken to reduce, manage, and control the environmental impacts of business activities all along the supply chain</a:t>
            </a:r>
            <a:endParaRPr lang="en-US" dirty="0"/>
          </a:p>
          <a:p>
            <a:pPr marL="0" indent="0" algn="just">
              <a:lnSpc>
                <a:spcPct val="100000"/>
              </a:lnSpc>
              <a:buNone/>
            </a:pPr>
            <a:r>
              <a:rPr lang="en-US" sz="1900" dirty="0">
                <a:solidFill>
                  <a:srgbClr val="000000"/>
                </a:solidFill>
                <a:ea typeface="+mn-lt"/>
                <a:cs typeface="+mn-lt"/>
              </a:rPr>
              <a:t>Integrating environmental management requires a process of  </a:t>
            </a:r>
            <a:r>
              <a:rPr lang="en-US" sz="1900" b="1" dirty="0">
                <a:solidFill>
                  <a:srgbClr val="000000"/>
                </a:solidFill>
                <a:ea typeface="+mn-lt"/>
                <a:cs typeface="+mn-lt"/>
              </a:rPr>
              <a:t>internal green supply chain management, supplier green supply chain integration</a:t>
            </a:r>
            <a:r>
              <a:rPr lang="en-US" sz="1900" dirty="0">
                <a:solidFill>
                  <a:srgbClr val="000000"/>
                </a:solidFill>
                <a:ea typeface="+mn-lt"/>
                <a:cs typeface="+mn-lt"/>
              </a:rPr>
              <a:t>,</a:t>
            </a:r>
            <a:r>
              <a:rPr lang="en-US" sz="1900" b="1" dirty="0">
                <a:solidFill>
                  <a:srgbClr val="000000"/>
                </a:solidFill>
                <a:ea typeface="+mn-lt"/>
                <a:cs typeface="+mn-lt"/>
              </a:rPr>
              <a:t> customer green supply chain integration</a:t>
            </a:r>
            <a:r>
              <a:rPr lang="en-US" sz="1900" dirty="0">
                <a:solidFill>
                  <a:srgbClr val="000000"/>
                </a:solidFill>
                <a:ea typeface="+mn-lt"/>
                <a:cs typeface="+mn-lt"/>
              </a:rPr>
              <a:t>, and </a:t>
            </a:r>
            <a:r>
              <a:rPr lang="en-US" sz="1900" b="1" dirty="0">
                <a:solidFill>
                  <a:srgbClr val="000000"/>
                </a:solidFill>
                <a:ea typeface="+mn-lt"/>
                <a:cs typeface="+mn-lt"/>
              </a:rPr>
              <a:t>community green supply chain integration</a:t>
            </a:r>
            <a:r>
              <a:rPr lang="en-US" sz="1900" dirty="0">
                <a:solidFill>
                  <a:srgbClr val="000000"/>
                </a:solidFill>
                <a:ea typeface="+mn-lt"/>
                <a:cs typeface="+mn-lt"/>
              </a:rPr>
              <a:t> </a:t>
            </a:r>
            <a:endParaRPr lang="en-US" dirty="0"/>
          </a:p>
          <a:p>
            <a:pPr marL="0" indent="0" algn="just">
              <a:lnSpc>
                <a:spcPct val="100000"/>
              </a:lnSpc>
              <a:buNone/>
            </a:pPr>
            <a:r>
              <a:rPr lang="en-US" sz="1900" dirty="0">
                <a:solidFill>
                  <a:srgbClr val="000000"/>
                </a:solidFill>
                <a:ea typeface="+mn-lt"/>
                <a:cs typeface="+mn-lt"/>
              </a:rPr>
              <a:t>The International Standard Organization (ISO) and international guidelines like the Global Reporting Initiative (GRI) or the United Nations Global Compact (UNGC) are sources of information where environment-friendly practices are defined</a:t>
            </a:r>
            <a:endParaRPr lang="en-US" sz="1900" dirty="0">
              <a:solidFill>
                <a:srgbClr val="000000"/>
              </a:solidFill>
            </a:endParaRPr>
          </a:p>
          <a:p>
            <a:pPr marL="0" indent="0" algn="just">
              <a:lnSpc>
                <a:spcPct val="100000"/>
              </a:lnSpc>
              <a:buNone/>
            </a:pPr>
            <a:endParaRPr lang="en-US" sz="1900" dirty="0">
              <a:solidFill>
                <a:srgbClr val="000000">
                  <a:alpha val="60000"/>
                </a:srgbClr>
              </a:solidFill>
            </a:endParaRPr>
          </a:p>
          <a:p>
            <a:pPr marL="0" indent="0" algn="just">
              <a:lnSpc>
                <a:spcPct val="100000"/>
              </a:lnSpc>
              <a:buNone/>
            </a:pPr>
            <a:endParaRPr lang="en-US" sz="1900" dirty="0">
              <a:solidFill>
                <a:srgbClr val="000000">
                  <a:alpha val="60000"/>
                </a:srgbClr>
              </a:solidFill>
            </a:endParaRPr>
          </a:p>
        </p:txBody>
      </p:sp>
      <p:sp>
        <p:nvSpPr>
          <p:cNvPr id="20" name="Rectangle 19">
            <a:extLst>
              <a:ext uri="{FF2B5EF4-FFF2-40B4-BE49-F238E27FC236}">
                <a16:creationId xmlns:a16="http://schemas.microsoft.com/office/drawing/2014/main" id="{E95A6F56-5B66-4656-B01E-938834D6A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Picture 5" descr="Diagram&#10;&#10;Description automatically generated">
            <a:extLst>
              <a:ext uri="{FF2B5EF4-FFF2-40B4-BE49-F238E27FC236}">
                <a16:creationId xmlns:a16="http://schemas.microsoft.com/office/drawing/2014/main" id="{56F1B918-3472-482D-BE2D-40F3FBB08644}"/>
              </a:ext>
            </a:extLst>
          </p:cNvPr>
          <p:cNvPicPr>
            <a:picLocks noChangeAspect="1"/>
          </p:cNvPicPr>
          <p:nvPr/>
        </p:nvPicPr>
        <p:blipFill>
          <a:blip r:embed="rId2"/>
          <a:stretch>
            <a:fillRect/>
          </a:stretch>
        </p:blipFill>
        <p:spPr>
          <a:xfrm>
            <a:off x="6651127" y="1174560"/>
            <a:ext cx="4999885" cy="4506225"/>
          </a:xfrm>
          <a:prstGeom prst="rect">
            <a:avLst/>
          </a:prstGeom>
        </p:spPr>
      </p:pic>
    </p:spTree>
    <p:extLst>
      <p:ext uri="{BB962C8B-B14F-4D97-AF65-F5344CB8AC3E}">
        <p14:creationId xmlns:p14="http://schemas.microsoft.com/office/powerpoint/2010/main" val="1202454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A513CAD-9784-4D35-BAF9-1F7DDD697B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3429000"/>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32F16DF-749F-4DD7-9FEF-0562A4ED11A3}"/>
              </a:ext>
            </a:extLst>
          </p:cNvPr>
          <p:cNvGraphicFramePr>
            <a:graphicFrameLocks noGrp="1"/>
          </p:cNvGraphicFramePr>
          <p:nvPr>
            <p:ph idx="1"/>
            <p:extLst>
              <p:ext uri="{D42A27DB-BD31-4B8C-83A1-F6EECF244321}">
                <p14:modId xmlns:p14="http://schemas.microsoft.com/office/powerpoint/2010/main" val="2226941515"/>
              </p:ext>
            </p:extLst>
          </p:nvPr>
        </p:nvGraphicFramePr>
        <p:xfrm>
          <a:off x="5861483" y="145595"/>
          <a:ext cx="6102673" cy="65350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6" name="Arrow: Pentagon 95">
            <a:extLst>
              <a:ext uri="{FF2B5EF4-FFF2-40B4-BE49-F238E27FC236}">
                <a16:creationId xmlns:a16="http://schemas.microsoft.com/office/drawing/2014/main" id="{B02C962B-BED5-4803-9554-9112C1B7B98B}"/>
              </a:ext>
            </a:extLst>
          </p:cNvPr>
          <p:cNvSpPr/>
          <p:nvPr/>
        </p:nvSpPr>
        <p:spPr>
          <a:xfrm>
            <a:off x="533754" y="483150"/>
            <a:ext cx="5031287" cy="98120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Internal Green Supply Chain Management </a:t>
            </a:r>
          </a:p>
        </p:txBody>
      </p:sp>
      <p:sp>
        <p:nvSpPr>
          <p:cNvPr id="97" name="Arrow: Pentagon 96">
            <a:extLst>
              <a:ext uri="{FF2B5EF4-FFF2-40B4-BE49-F238E27FC236}">
                <a16:creationId xmlns:a16="http://schemas.microsoft.com/office/drawing/2014/main" id="{7DE1F342-8C5D-4C14-B396-A4B75682DF1A}"/>
              </a:ext>
            </a:extLst>
          </p:cNvPr>
          <p:cNvSpPr/>
          <p:nvPr/>
        </p:nvSpPr>
        <p:spPr>
          <a:xfrm>
            <a:off x="533754" y="2090657"/>
            <a:ext cx="5031287" cy="98120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Supplier Green Supply Chain Intergration </a:t>
            </a:r>
          </a:p>
        </p:txBody>
      </p:sp>
      <p:sp>
        <p:nvSpPr>
          <p:cNvPr id="98" name="Arrow: Pentagon 97">
            <a:extLst>
              <a:ext uri="{FF2B5EF4-FFF2-40B4-BE49-F238E27FC236}">
                <a16:creationId xmlns:a16="http://schemas.microsoft.com/office/drawing/2014/main" id="{AD864DA2-EAA3-4761-B80E-331237EFCE57}"/>
              </a:ext>
            </a:extLst>
          </p:cNvPr>
          <p:cNvSpPr/>
          <p:nvPr/>
        </p:nvSpPr>
        <p:spPr>
          <a:xfrm>
            <a:off x="533753" y="3750356"/>
            <a:ext cx="5031287" cy="98120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Customer Green Supply Chain Integration</a:t>
            </a:r>
          </a:p>
        </p:txBody>
      </p:sp>
      <p:sp>
        <p:nvSpPr>
          <p:cNvPr id="99" name="Arrow: Pentagon 98">
            <a:extLst>
              <a:ext uri="{FF2B5EF4-FFF2-40B4-BE49-F238E27FC236}">
                <a16:creationId xmlns:a16="http://schemas.microsoft.com/office/drawing/2014/main" id="{AD20C291-5FF3-4D4D-B384-E4934BE3020B}"/>
              </a:ext>
            </a:extLst>
          </p:cNvPr>
          <p:cNvSpPr/>
          <p:nvPr/>
        </p:nvSpPr>
        <p:spPr>
          <a:xfrm>
            <a:off x="533753" y="5336985"/>
            <a:ext cx="5031287" cy="98120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Community  Green Supply Chain Integration</a:t>
            </a:r>
          </a:p>
        </p:txBody>
      </p:sp>
    </p:spTree>
    <p:extLst>
      <p:ext uri="{BB962C8B-B14F-4D97-AF65-F5344CB8AC3E}">
        <p14:creationId xmlns:p14="http://schemas.microsoft.com/office/powerpoint/2010/main" val="2975771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91262B-EE98-42E4-874F-4F9D09579530}"/>
              </a:ext>
            </a:extLst>
          </p:cNvPr>
          <p:cNvSpPr>
            <a:spLocks noGrp="1"/>
          </p:cNvSpPr>
          <p:nvPr>
            <p:ph type="title"/>
          </p:nvPr>
        </p:nvSpPr>
        <p:spPr>
          <a:xfrm>
            <a:off x="113179" y="151866"/>
            <a:ext cx="5759375" cy="972839"/>
          </a:xfrm>
        </p:spPr>
        <p:txBody>
          <a:bodyPr wrap="square" anchor="b">
            <a:normAutofit/>
          </a:bodyPr>
          <a:lstStyle/>
          <a:p>
            <a:pPr algn="ctr">
              <a:lnSpc>
                <a:spcPct val="90000"/>
              </a:lnSpc>
            </a:pPr>
            <a:r>
              <a:rPr lang="en-GB" b="1"/>
              <a:t>Sustainable Supply </a:t>
            </a:r>
            <a:r>
              <a:rPr lang="en-GB" b="1" dirty="0"/>
              <a:t>Chain Management </a:t>
            </a:r>
          </a:p>
        </p:txBody>
      </p:sp>
      <p:cxnSp>
        <p:nvCxnSpPr>
          <p:cNvPr id="18" name="Straight Connector 17">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1C3788-B333-4E4D-9A74-5B5F9753008B}"/>
              </a:ext>
            </a:extLst>
          </p:cNvPr>
          <p:cNvSpPr>
            <a:spLocks noGrp="1"/>
          </p:cNvSpPr>
          <p:nvPr>
            <p:ph idx="1"/>
          </p:nvPr>
        </p:nvSpPr>
        <p:spPr>
          <a:xfrm>
            <a:off x="165371" y="1234899"/>
            <a:ext cx="5529730" cy="5025138"/>
          </a:xfrm>
        </p:spPr>
        <p:txBody>
          <a:bodyPr vert="horz" lIns="91440" tIns="45720" rIns="91440" bIns="45720" rtlCol="0" anchor="t">
            <a:normAutofit fontScale="92500" lnSpcReduction="10000"/>
          </a:bodyPr>
          <a:lstStyle/>
          <a:p>
            <a:pPr marL="0" indent="0" algn="just">
              <a:lnSpc>
                <a:spcPct val="100000"/>
              </a:lnSpc>
              <a:buNone/>
            </a:pPr>
            <a:r>
              <a:rPr lang="en-GB" dirty="0">
                <a:solidFill>
                  <a:srgbClr val="000000"/>
                </a:solidFill>
                <a:ea typeface="+mn-lt"/>
                <a:cs typeface="+mn-lt"/>
              </a:rPr>
              <a:t>The management of material, information and capital flows as well as cooperation among companies along the supply chain while taking goals from all three dimensions of sustainable development, i.e., economic, environmental and social, into account which are derived from customer and stakeholder requirements</a:t>
            </a:r>
          </a:p>
          <a:p>
            <a:pPr marL="0" indent="0" algn="just">
              <a:lnSpc>
                <a:spcPct val="100000"/>
              </a:lnSpc>
              <a:buNone/>
            </a:pPr>
            <a:r>
              <a:rPr lang="en-GB" dirty="0">
                <a:solidFill>
                  <a:srgbClr val="000000"/>
                </a:solidFill>
                <a:ea typeface="+mn-lt"/>
                <a:cs typeface="+mn-lt"/>
              </a:rPr>
              <a:t>To manage supply chains sustainably, it is important to integrate sustainability at different strategic levels of SCs through </a:t>
            </a:r>
          </a:p>
          <a:p>
            <a:pPr marL="0" indent="0" algn="just">
              <a:lnSpc>
                <a:spcPct val="100000"/>
              </a:lnSpc>
              <a:buNone/>
            </a:pPr>
            <a:r>
              <a:rPr lang="en-GB" b="1" dirty="0">
                <a:solidFill>
                  <a:srgbClr val="000000"/>
                </a:solidFill>
                <a:ea typeface="+mn-lt"/>
                <a:cs typeface="+mn-lt"/>
              </a:rPr>
              <a:t>(1) governance mechanisms and top management, </a:t>
            </a:r>
          </a:p>
          <a:p>
            <a:pPr marL="0" indent="0" algn="just">
              <a:lnSpc>
                <a:spcPct val="100000"/>
              </a:lnSpc>
              <a:buNone/>
            </a:pPr>
            <a:r>
              <a:rPr lang="en-GB" b="1" dirty="0">
                <a:solidFill>
                  <a:srgbClr val="000000"/>
                </a:solidFill>
                <a:ea typeface="+mn-lt"/>
                <a:cs typeface="+mn-lt"/>
              </a:rPr>
              <a:t>(2) at the operational level, </a:t>
            </a:r>
          </a:p>
          <a:p>
            <a:pPr marL="0" indent="0" algn="just">
              <a:lnSpc>
                <a:spcPct val="100000"/>
              </a:lnSpc>
              <a:buNone/>
            </a:pPr>
            <a:r>
              <a:rPr lang="en-GB" b="1" dirty="0">
                <a:solidFill>
                  <a:srgbClr val="000000"/>
                </a:solidFill>
                <a:ea typeface="+mn-lt"/>
                <a:cs typeface="+mn-lt"/>
              </a:rPr>
              <a:t>(3) at the product/service level</a:t>
            </a:r>
          </a:p>
          <a:p>
            <a:pPr marL="0" indent="0" algn="just">
              <a:lnSpc>
                <a:spcPct val="100000"/>
              </a:lnSpc>
              <a:buNone/>
            </a:pPr>
            <a:r>
              <a:rPr lang="en-GB" b="1" dirty="0">
                <a:solidFill>
                  <a:srgbClr val="000000"/>
                </a:solidFill>
                <a:ea typeface="+mn-lt"/>
                <a:cs typeface="+mn-lt"/>
              </a:rPr>
              <a:t>(4) through supply chain partners</a:t>
            </a:r>
            <a:endParaRPr lang="en-GB" b="1" dirty="0">
              <a:solidFill>
                <a:srgbClr val="000000"/>
              </a:solidFill>
            </a:endParaRPr>
          </a:p>
        </p:txBody>
      </p:sp>
      <p:pic>
        <p:nvPicPr>
          <p:cNvPr id="5" name="Picture 4" descr="Low angle view of modern skyscrapers rising straight up against a dramatic sky">
            <a:extLst>
              <a:ext uri="{FF2B5EF4-FFF2-40B4-BE49-F238E27FC236}">
                <a16:creationId xmlns:a16="http://schemas.microsoft.com/office/drawing/2014/main" id="{D3DB6DEC-9812-461A-BA75-C3D97DC5CDF0}"/>
              </a:ext>
            </a:extLst>
          </p:cNvPr>
          <p:cNvPicPr>
            <a:picLocks noChangeAspect="1"/>
          </p:cNvPicPr>
          <p:nvPr/>
        </p:nvPicPr>
        <p:blipFill rotWithShape="1">
          <a:blip r:embed="rId2"/>
          <a:srcRect l="12292" r="28222" b="-1"/>
          <a:stretch/>
        </p:blipFill>
        <p:spPr>
          <a:xfrm>
            <a:off x="6080462" y="10"/>
            <a:ext cx="6111538" cy="6857990"/>
          </a:xfrm>
          <a:prstGeom prst="rect">
            <a:avLst/>
          </a:prstGeom>
        </p:spPr>
      </p:pic>
    </p:spTree>
    <p:extLst>
      <p:ext uri="{BB962C8B-B14F-4D97-AF65-F5344CB8AC3E}">
        <p14:creationId xmlns:p14="http://schemas.microsoft.com/office/powerpoint/2010/main" val="386509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68346D-5E77-4906-AC8D-57FB88F11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C4F2A3-DE56-48C8-AE93-B3366E84A552}"/>
              </a:ext>
            </a:extLst>
          </p:cNvPr>
          <p:cNvSpPr>
            <a:spLocks noGrp="1"/>
          </p:cNvSpPr>
          <p:nvPr>
            <p:ph type="title"/>
          </p:nvPr>
        </p:nvSpPr>
        <p:spPr>
          <a:xfrm>
            <a:off x="6221887" y="270037"/>
            <a:ext cx="5803890" cy="1277600"/>
          </a:xfrm>
        </p:spPr>
        <p:txBody>
          <a:bodyPr wrap="square" anchor="b">
            <a:normAutofit/>
          </a:bodyPr>
          <a:lstStyle/>
          <a:p>
            <a:pPr algn="ctr">
              <a:lnSpc>
                <a:spcPct val="90000"/>
              </a:lnSpc>
            </a:pPr>
            <a:r>
              <a:rPr lang="en-GB" sz="2700" b="1">
                <a:ea typeface="+mj-lt"/>
                <a:cs typeface="+mj-lt"/>
              </a:rPr>
              <a:t>Integrating Sustainability in Supply Chain Governance Mechanisms and Top Management</a:t>
            </a:r>
            <a:endParaRPr lang="en-GB" sz="2700" b="1"/>
          </a:p>
        </p:txBody>
      </p:sp>
      <p:pic>
        <p:nvPicPr>
          <p:cNvPr id="4" name="Picture 4">
            <a:extLst>
              <a:ext uri="{FF2B5EF4-FFF2-40B4-BE49-F238E27FC236}">
                <a16:creationId xmlns:a16="http://schemas.microsoft.com/office/drawing/2014/main" id="{4F9BD700-74DC-4814-A19A-BDD5F139E710}"/>
              </a:ext>
            </a:extLst>
          </p:cNvPr>
          <p:cNvPicPr>
            <a:picLocks noChangeAspect="1"/>
          </p:cNvPicPr>
          <p:nvPr/>
        </p:nvPicPr>
        <p:blipFill rotWithShape="1">
          <a:blip r:embed="rId2"/>
          <a:srcRect l="19870" r="20869"/>
          <a:stretch/>
        </p:blipFill>
        <p:spPr>
          <a:xfrm>
            <a:off x="20" y="10"/>
            <a:ext cx="6111518" cy="6857990"/>
          </a:xfrm>
          <a:prstGeom prst="rect">
            <a:avLst/>
          </a:prstGeom>
        </p:spPr>
      </p:pic>
      <p:cxnSp>
        <p:nvCxnSpPr>
          <p:cNvPr id="11" name="Straight Connector 10">
            <a:extLst>
              <a:ext uri="{FF2B5EF4-FFF2-40B4-BE49-F238E27FC236}">
                <a16:creationId xmlns:a16="http://schemas.microsoft.com/office/drawing/2014/main" id="{4CBC1FDF-AE13-4731-B38F-2761BDFDBB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28E96D-73FD-4D25-A3D3-647B7476AFD3}"/>
              </a:ext>
            </a:extLst>
          </p:cNvPr>
          <p:cNvSpPr>
            <a:spLocks noGrp="1"/>
          </p:cNvSpPr>
          <p:nvPr>
            <p:ph idx="1"/>
          </p:nvPr>
        </p:nvSpPr>
        <p:spPr>
          <a:xfrm>
            <a:off x="6329493" y="1718361"/>
            <a:ext cx="5654990" cy="4916083"/>
          </a:xfrm>
        </p:spPr>
        <p:txBody>
          <a:bodyPr vert="horz" lIns="91440" tIns="45720" rIns="91440" bIns="45720" rtlCol="0" anchor="t">
            <a:noAutofit/>
          </a:bodyPr>
          <a:lstStyle/>
          <a:p>
            <a:pPr marL="0" indent="0" algn="just">
              <a:lnSpc>
                <a:spcPct val="140000"/>
              </a:lnSpc>
              <a:buNone/>
            </a:pPr>
            <a:r>
              <a:rPr lang="en-GB" sz="1400" dirty="0">
                <a:solidFill>
                  <a:srgbClr val="000000"/>
                </a:solidFill>
                <a:ea typeface="+mn-lt"/>
                <a:cs typeface="+mn-lt"/>
              </a:rPr>
              <a:t>Governance mechanisms for SSCM exist among supply chain partners through the board of directors and the top management, through partnerships between two or more companies, and through representative organizations like federations</a:t>
            </a:r>
          </a:p>
          <a:p>
            <a:pPr marL="0" indent="0" algn="just">
              <a:lnSpc>
                <a:spcPct val="140000"/>
              </a:lnSpc>
              <a:buNone/>
            </a:pPr>
            <a:r>
              <a:rPr lang="en-GB" sz="1400" dirty="0">
                <a:solidFill>
                  <a:srgbClr val="000000"/>
                </a:solidFill>
                <a:ea typeface="+mn-lt"/>
                <a:cs typeface="+mn-lt"/>
              </a:rPr>
              <a:t>Governance is to be understood as “the way organizations are managed at the highest level, and the systems for doing this</a:t>
            </a:r>
          </a:p>
          <a:p>
            <a:pPr marL="0" indent="0" algn="just">
              <a:lnSpc>
                <a:spcPct val="140000"/>
              </a:lnSpc>
              <a:buNone/>
            </a:pPr>
            <a:r>
              <a:rPr lang="en-GB" sz="1400" dirty="0">
                <a:solidFill>
                  <a:srgbClr val="000000"/>
                </a:solidFill>
                <a:ea typeface="+mn-lt"/>
                <a:cs typeface="+mn-lt"/>
              </a:rPr>
              <a:t>To manage a SC sustainably, it is essential that sustainability is considered as a value at the highest level of organizations and that it forms part of the mission and vision of each organization</a:t>
            </a:r>
          </a:p>
          <a:p>
            <a:pPr marL="0" indent="0" algn="just">
              <a:lnSpc>
                <a:spcPct val="140000"/>
              </a:lnSpc>
              <a:buNone/>
            </a:pPr>
            <a:r>
              <a:rPr lang="en-GB" sz="1400" dirty="0">
                <a:solidFill>
                  <a:srgbClr val="000000"/>
                </a:solidFill>
                <a:ea typeface="+mn-lt"/>
                <a:cs typeface="+mn-lt"/>
              </a:rPr>
              <a:t>it is needed to involve the board of directors, shareholders, and the top management by raising awareness, developing sustainability policies, using tools such as charts and codes of conduct, and training people.</a:t>
            </a:r>
            <a:endParaRPr lang="en-GB" sz="1400" dirty="0">
              <a:solidFill>
                <a:srgbClr val="000000"/>
              </a:solidFill>
            </a:endParaRPr>
          </a:p>
          <a:p>
            <a:pPr marL="0" indent="0" algn="just">
              <a:lnSpc>
                <a:spcPct val="140000"/>
              </a:lnSpc>
              <a:buNone/>
            </a:pPr>
            <a:endParaRPr lang="en-GB" sz="1800" dirty="0"/>
          </a:p>
          <a:p>
            <a:pPr marL="0" indent="0" algn="just">
              <a:lnSpc>
                <a:spcPct val="140000"/>
              </a:lnSpc>
              <a:buNone/>
            </a:pPr>
            <a:endParaRPr lang="en-GB" sz="800" dirty="0"/>
          </a:p>
        </p:txBody>
      </p:sp>
    </p:spTree>
    <p:extLst>
      <p:ext uri="{BB962C8B-B14F-4D97-AF65-F5344CB8AC3E}">
        <p14:creationId xmlns:p14="http://schemas.microsoft.com/office/powerpoint/2010/main" val="1994267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C279C8A1-C4E4-4DE9-934E-91221AC99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BBD769-5BC8-4B92-A4F1-C3972DB02497}"/>
              </a:ext>
            </a:extLst>
          </p:cNvPr>
          <p:cNvSpPr>
            <a:spLocks noGrp="1"/>
          </p:cNvSpPr>
          <p:nvPr>
            <p:ph type="title"/>
          </p:nvPr>
        </p:nvSpPr>
        <p:spPr>
          <a:xfrm>
            <a:off x="4033919" y="155206"/>
            <a:ext cx="7925504" cy="1120439"/>
          </a:xfrm>
        </p:spPr>
        <p:txBody>
          <a:bodyPr vert="horz" wrap="square" lIns="91440" tIns="45720" rIns="91440" bIns="45720" rtlCol="0" anchor="b" anchorCtr="0">
            <a:noAutofit/>
          </a:bodyPr>
          <a:lstStyle/>
          <a:p>
            <a:pPr algn="ctr">
              <a:lnSpc>
                <a:spcPct val="90000"/>
              </a:lnSpc>
            </a:pPr>
            <a:r>
              <a:rPr lang="en-GB" sz="3600" b="1">
                <a:ea typeface="+mj-lt"/>
                <a:cs typeface="+mj-lt"/>
              </a:rPr>
              <a:t>Integrating Sustainability at the Operational Level</a:t>
            </a:r>
            <a:endParaRPr lang="en-GB" sz="3600" b="1"/>
          </a:p>
        </p:txBody>
      </p:sp>
      <p:pic>
        <p:nvPicPr>
          <p:cNvPr id="7" name="Picture 4" descr="Light bulb on yellow background with sketched light beams and cord">
            <a:extLst>
              <a:ext uri="{FF2B5EF4-FFF2-40B4-BE49-F238E27FC236}">
                <a16:creationId xmlns:a16="http://schemas.microsoft.com/office/drawing/2014/main" id="{D981546B-EC8D-4F32-99ED-648928A40D18}"/>
              </a:ext>
            </a:extLst>
          </p:cNvPr>
          <p:cNvPicPr>
            <a:picLocks noChangeAspect="1"/>
          </p:cNvPicPr>
          <p:nvPr/>
        </p:nvPicPr>
        <p:blipFill rotWithShape="1">
          <a:blip r:embed="rId2"/>
          <a:srcRect l="53831" r="11506" b="3"/>
          <a:stretch/>
        </p:blipFill>
        <p:spPr>
          <a:xfrm>
            <a:off x="20" y="10"/>
            <a:ext cx="3863955" cy="6857989"/>
          </a:xfrm>
          <a:prstGeom prst="rect">
            <a:avLst/>
          </a:prstGeom>
        </p:spPr>
      </p:pic>
      <p:cxnSp>
        <p:nvCxnSpPr>
          <p:cNvPr id="8" name="Straight Connector 10">
            <a:extLst>
              <a:ext uri="{FF2B5EF4-FFF2-40B4-BE49-F238E27FC236}">
                <a16:creationId xmlns:a16="http://schemas.microsoft.com/office/drawing/2014/main" id="{26C7ED5D-77C4-4564-8B1A-E55609CF4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7986" y="1964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DE9DFC-183D-4CB7-90FE-B03C15F2D16B}"/>
              </a:ext>
            </a:extLst>
          </p:cNvPr>
          <p:cNvSpPr>
            <a:spLocks noGrp="1"/>
          </p:cNvSpPr>
          <p:nvPr>
            <p:ph idx="1"/>
          </p:nvPr>
        </p:nvSpPr>
        <p:spPr>
          <a:xfrm>
            <a:off x="4023481" y="1327879"/>
            <a:ext cx="8123832" cy="5800890"/>
          </a:xfrm>
        </p:spPr>
        <p:txBody>
          <a:bodyPr vert="horz" lIns="91440" tIns="45720" rIns="91440" bIns="45720" rtlCol="0" anchor="t">
            <a:normAutofit fontScale="92500" lnSpcReduction="10000"/>
          </a:bodyPr>
          <a:lstStyle/>
          <a:p>
            <a:pPr marL="359410" indent="-359410" algn="just">
              <a:buNone/>
            </a:pPr>
            <a:r>
              <a:rPr lang="en-GB" dirty="0">
                <a:solidFill>
                  <a:srgbClr val="000000"/>
                </a:solidFill>
                <a:ea typeface="+mn-lt"/>
                <a:cs typeface="+mn-lt"/>
              </a:rPr>
              <a:t>   </a:t>
            </a:r>
            <a:r>
              <a:rPr lang="en-GB" sz="1800" dirty="0">
                <a:solidFill>
                  <a:srgbClr val="000000"/>
                </a:solidFill>
                <a:ea typeface="+mn-lt"/>
                <a:cs typeface="+mn-lt"/>
              </a:rPr>
              <a:t>Integrating sustainability into all departments of the company such as Finance, Information Technology, Accounting, or Marketing. Indeed, to make a SC sustainable</a:t>
            </a:r>
          </a:p>
          <a:p>
            <a:pPr marL="359410" indent="-359410" algn="just">
              <a:buNone/>
            </a:pPr>
            <a:r>
              <a:rPr lang="en-GB" sz="1800" dirty="0">
                <a:solidFill>
                  <a:srgbClr val="000000"/>
                </a:solidFill>
                <a:ea typeface="+mn-lt"/>
                <a:cs typeface="+mn-lt"/>
              </a:rPr>
              <a:t>     It is particularly needed to involve all departments that play a role in the planning of activities, the sourcing, the procurement, the internal and external logistic activities, and the manufacturing/use and post-use phases of the product life cycle</a:t>
            </a:r>
          </a:p>
          <a:p>
            <a:pPr marL="359410" indent="-359410" algn="just">
              <a:buNone/>
            </a:pPr>
            <a:r>
              <a:rPr lang="en-GB" sz="1800" dirty="0">
                <a:solidFill>
                  <a:srgbClr val="000000"/>
                </a:solidFill>
                <a:ea typeface="+mn-lt"/>
                <a:cs typeface="+mn-lt"/>
              </a:rPr>
              <a:t>     Such an integration requires a strong information system to manage all the information, financial, and product flows along the SC that include both environmental and social criteria according to the SC sustainability targets</a:t>
            </a:r>
          </a:p>
          <a:p>
            <a:pPr marL="359410" indent="-359410" algn="just">
              <a:buNone/>
            </a:pPr>
            <a:r>
              <a:rPr lang="en-GB" sz="1800" dirty="0">
                <a:solidFill>
                  <a:srgbClr val="000000"/>
                </a:solidFill>
                <a:ea typeface="+mn-lt"/>
                <a:cs typeface="+mn-lt"/>
              </a:rPr>
              <a:t>For this purpose, some key functions in the SC like the procurement function are  supported by norms. ISO 20400 is one of these norms guiding toward sustainable procurement practices</a:t>
            </a:r>
            <a:endParaRPr lang="en-GB" sz="1800" dirty="0">
              <a:solidFill>
                <a:srgbClr val="000000"/>
              </a:solidFill>
            </a:endParaRPr>
          </a:p>
          <a:p>
            <a:pPr marL="359410" indent="-359410" algn="just">
              <a:buNone/>
            </a:pPr>
            <a:endParaRPr lang="en-GB" sz="1800" dirty="0">
              <a:solidFill>
                <a:srgbClr val="000000">
                  <a:alpha val="60000"/>
                </a:srgbClr>
              </a:solidFill>
            </a:endParaRPr>
          </a:p>
        </p:txBody>
      </p:sp>
    </p:spTree>
    <p:extLst>
      <p:ext uri="{BB962C8B-B14F-4D97-AF65-F5344CB8AC3E}">
        <p14:creationId xmlns:p14="http://schemas.microsoft.com/office/powerpoint/2010/main" val="230478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5AA36A-D7CC-493C-A0EE-F8AC3564D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8AE5A-C199-4259-8F9C-EA9F4AA1DBA5}"/>
              </a:ext>
            </a:extLst>
          </p:cNvPr>
          <p:cNvSpPr>
            <a:spLocks noGrp="1"/>
          </p:cNvSpPr>
          <p:nvPr>
            <p:ph type="title"/>
          </p:nvPr>
        </p:nvSpPr>
        <p:spPr>
          <a:xfrm>
            <a:off x="5881461" y="174714"/>
            <a:ext cx="6151888" cy="1045194"/>
          </a:xfrm>
        </p:spPr>
        <p:txBody>
          <a:bodyPr vert="horz" wrap="square" lIns="91440" tIns="45720" rIns="91440" bIns="45720" rtlCol="0" anchor="b" anchorCtr="0">
            <a:noAutofit/>
          </a:bodyPr>
          <a:lstStyle/>
          <a:p>
            <a:pPr algn="ctr"/>
            <a:r>
              <a:rPr lang="en-GB" sz="3600" dirty="0">
                <a:ea typeface="+mj-lt"/>
                <a:cs typeface="+mj-lt"/>
              </a:rPr>
              <a:t>I</a:t>
            </a:r>
            <a:r>
              <a:rPr lang="en-GB" sz="3600" b="1" dirty="0">
                <a:ea typeface="+mj-lt"/>
                <a:cs typeface="+mj-lt"/>
              </a:rPr>
              <a:t>ntegrating Sustainability at the Product Level</a:t>
            </a:r>
            <a:endParaRPr lang="en-US" sz="3600" b="1" dirty="0"/>
          </a:p>
        </p:txBody>
      </p:sp>
      <p:pic>
        <p:nvPicPr>
          <p:cNvPr id="4" name="Picture 4" descr="A picture containing text, toy&#10;&#10;Description automatically generated">
            <a:extLst>
              <a:ext uri="{FF2B5EF4-FFF2-40B4-BE49-F238E27FC236}">
                <a16:creationId xmlns:a16="http://schemas.microsoft.com/office/drawing/2014/main" id="{BA947CED-4952-4BE9-BBDC-058DE06D3551}"/>
              </a:ext>
            </a:extLst>
          </p:cNvPr>
          <p:cNvPicPr>
            <a:picLocks noChangeAspect="1"/>
          </p:cNvPicPr>
          <p:nvPr/>
        </p:nvPicPr>
        <p:blipFill rotWithShape="1">
          <a:blip r:embed="rId2"/>
          <a:srcRect l="23396" r="11698" b="6990"/>
          <a:stretch/>
        </p:blipFill>
        <p:spPr>
          <a:xfrm>
            <a:off x="89477" y="786529"/>
            <a:ext cx="5791984" cy="5374160"/>
          </a:xfrm>
          <a:custGeom>
            <a:avLst/>
            <a:gdLst/>
            <a:ahLst/>
            <a:cxnLst/>
            <a:rect l="l" t="t" r="r" b="b"/>
            <a:pathLst>
              <a:path w="5778000" h="5778000">
                <a:moveTo>
                  <a:pt x="2889000" y="0"/>
                </a:moveTo>
                <a:cubicBezTo>
                  <a:pt x="4484551" y="0"/>
                  <a:pt x="5778000" y="1293449"/>
                  <a:pt x="5778000" y="2889000"/>
                </a:cubicBezTo>
                <a:cubicBezTo>
                  <a:pt x="5778000" y="4484551"/>
                  <a:pt x="4484551" y="5778000"/>
                  <a:pt x="2889000" y="5778000"/>
                </a:cubicBezTo>
                <a:cubicBezTo>
                  <a:pt x="1293449" y="5778000"/>
                  <a:pt x="0" y="4484551"/>
                  <a:pt x="0" y="2889000"/>
                </a:cubicBezTo>
                <a:cubicBezTo>
                  <a:pt x="0" y="1293449"/>
                  <a:pt x="1293449" y="0"/>
                  <a:pt x="2889000" y="0"/>
                </a:cubicBezTo>
                <a:close/>
              </a:path>
            </a:pathLst>
          </a:custGeom>
        </p:spPr>
      </p:pic>
      <p:cxnSp>
        <p:nvCxnSpPr>
          <p:cNvPr id="11" name="Straight Connector 10">
            <a:extLst>
              <a:ext uri="{FF2B5EF4-FFF2-40B4-BE49-F238E27FC236}">
                <a16:creationId xmlns:a16="http://schemas.microsoft.com/office/drawing/2014/main" id="{1850A2DA-FC3C-4E59-9724-29CF2777D3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2A4BC8C-9DF5-4D86-BE38-E785DD643111}"/>
              </a:ext>
            </a:extLst>
          </p:cNvPr>
          <p:cNvSpPr>
            <a:spLocks noGrp="1"/>
          </p:cNvSpPr>
          <p:nvPr>
            <p:ph idx="1"/>
          </p:nvPr>
        </p:nvSpPr>
        <p:spPr>
          <a:xfrm>
            <a:off x="5995460" y="1354290"/>
            <a:ext cx="6107063" cy="5333158"/>
          </a:xfrm>
        </p:spPr>
        <p:txBody>
          <a:bodyPr vert="horz" lIns="91440" tIns="45720" rIns="91440" bIns="45720" rtlCol="0" anchor="t">
            <a:noAutofit/>
          </a:bodyPr>
          <a:lstStyle/>
          <a:p>
            <a:pPr marL="0" indent="0" algn="just">
              <a:lnSpc>
                <a:spcPct val="140000"/>
              </a:lnSpc>
              <a:buNone/>
            </a:pPr>
            <a:r>
              <a:rPr lang="en-GB" sz="1800" dirty="0">
                <a:solidFill>
                  <a:srgbClr val="000000"/>
                </a:solidFill>
                <a:ea typeface="+mn-lt"/>
                <a:cs typeface="+mn-lt"/>
              </a:rPr>
              <a:t>Sustainability should be part of the design of the product/service to limit or eliminate its negative environmental and social impacts during its production, use, and end-of-life phase. </a:t>
            </a:r>
          </a:p>
          <a:p>
            <a:pPr marL="0" indent="0" algn="just">
              <a:lnSpc>
                <a:spcPct val="140000"/>
              </a:lnSpc>
              <a:buNone/>
            </a:pPr>
            <a:r>
              <a:rPr lang="en-GB" sz="1800" dirty="0">
                <a:solidFill>
                  <a:srgbClr val="000000"/>
                </a:solidFill>
                <a:ea typeface="+mn-lt"/>
                <a:cs typeface="+mn-lt"/>
              </a:rPr>
              <a:t>To ensure this, the environmental life cycle assessment (E-LCA) and social life cycle assessment (S-LCA) tools can be used An LCA looks at the impact “that a product has on people who interact with the life cycle of the product </a:t>
            </a:r>
          </a:p>
          <a:p>
            <a:pPr marL="0" indent="0" algn="just">
              <a:lnSpc>
                <a:spcPct val="140000"/>
              </a:lnSpc>
              <a:buNone/>
            </a:pPr>
            <a:r>
              <a:rPr lang="en-GB" sz="1800" dirty="0">
                <a:solidFill>
                  <a:srgbClr val="000000"/>
                </a:solidFill>
                <a:ea typeface="+mn-lt"/>
                <a:cs typeface="+mn-lt"/>
              </a:rPr>
              <a:t>LCA looks at these impacts during the phase of resources and material use, components and semi-products, manufacture, use and maintenance, and recycling and disposal</a:t>
            </a:r>
            <a:endParaRPr lang="en-GB" sz="1800" dirty="0">
              <a:solidFill>
                <a:srgbClr val="000000"/>
              </a:solidFill>
            </a:endParaRPr>
          </a:p>
        </p:txBody>
      </p:sp>
    </p:spTree>
    <p:extLst>
      <p:ext uri="{BB962C8B-B14F-4D97-AF65-F5344CB8AC3E}">
        <p14:creationId xmlns:p14="http://schemas.microsoft.com/office/powerpoint/2010/main" val="2990306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571F5-DDD5-4B15-8188-6841EA95D4D4}"/>
              </a:ext>
            </a:extLst>
          </p:cNvPr>
          <p:cNvSpPr>
            <a:spLocks noGrp="1"/>
          </p:cNvSpPr>
          <p:nvPr>
            <p:ph type="title"/>
          </p:nvPr>
        </p:nvSpPr>
        <p:spPr>
          <a:xfrm>
            <a:off x="3883" y="290044"/>
            <a:ext cx="6118270" cy="1318534"/>
          </a:xfrm>
        </p:spPr>
        <p:txBody>
          <a:bodyPr vert="horz" wrap="square" lIns="91440" tIns="45720" rIns="91440" bIns="45720" rtlCol="0" anchor="b" anchorCtr="0">
            <a:noAutofit/>
          </a:bodyPr>
          <a:lstStyle/>
          <a:p>
            <a:pPr algn="ctr">
              <a:lnSpc>
                <a:spcPct val="90000"/>
              </a:lnSpc>
            </a:pPr>
            <a:r>
              <a:rPr lang="en-GB" sz="3000" b="1">
                <a:ea typeface="+mj-lt"/>
                <a:cs typeface="+mj-lt"/>
              </a:rPr>
              <a:t>Transferring Sustainability to Supply Chain Partners and Monitoring Sustainability</a:t>
            </a:r>
            <a:endParaRPr lang="en-GB" sz="3000" b="1"/>
          </a:p>
        </p:txBody>
      </p:sp>
      <p:cxnSp>
        <p:nvCxnSpPr>
          <p:cNvPr id="11" name="Straight Connector 10">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6F1E652-EBE9-4D93-B3E8-8168E130947A}"/>
              </a:ext>
            </a:extLst>
          </p:cNvPr>
          <p:cNvSpPr>
            <a:spLocks noGrp="1"/>
          </p:cNvSpPr>
          <p:nvPr>
            <p:ph idx="1"/>
          </p:nvPr>
        </p:nvSpPr>
        <p:spPr>
          <a:xfrm>
            <a:off x="250412" y="1711606"/>
            <a:ext cx="5602799" cy="4974569"/>
          </a:xfrm>
        </p:spPr>
        <p:txBody>
          <a:bodyPr vert="horz" lIns="91440" tIns="45720" rIns="91440" bIns="45720" rtlCol="0" anchor="t">
            <a:noAutofit/>
          </a:bodyPr>
          <a:lstStyle/>
          <a:p>
            <a:pPr marL="0" indent="0">
              <a:lnSpc>
                <a:spcPct val="140000"/>
              </a:lnSpc>
              <a:buNone/>
            </a:pPr>
            <a:r>
              <a:rPr lang="en-GB" sz="1600">
                <a:solidFill>
                  <a:srgbClr val="000000"/>
                </a:solidFill>
                <a:ea typeface="+mn-lt"/>
                <a:cs typeface="+mn-lt"/>
              </a:rPr>
              <a:t>Transferring sustainability to SC partners means here developing suppliers’ skills and competences so that they can reach the same sustainability performance as the initiating company, which usually is the focal company. Monitoring means here to develop ways to assess this sustainability performance over time and measure the progress made.</a:t>
            </a:r>
            <a:endParaRPr lang="en-US" sz="1600">
              <a:solidFill>
                <a:srgbClr val="000000"/>
              </a:solidFill>
            </a:endParaRPr>
          </a:p>
          <a:p>
            <a:pPr marL="0" indent="0">
              <a:lnSpc>
                <a:spcPct val="140000"/>
              </a:lnSpc>
              <a:buNone/>
            </a:pPr>
            <a:r>
              <a:rPr lang="en-GB" sz="1600">
                <a:solidFill>
                  <a:srgbClr val="000000"/>
                </a:solidFill>
                <a:ea typeface="+mn-lt"/>
                <a:cs typeface="+mn-lt"/>
              </a:rPr>
              <a:t>Collaboration with suppliers consists in assisting suppliers, sharing knowledge with suppliers, providing assistance to suppliers, and integrating resources with suppliers like design,sourcing, and production</a:t>
            </a:r>
          </a:p>
          <a:p>
            <a:pPr marL="0" indent="0">
              <a:lnSpc>
                <a:spcPct val="140000"/>
              </a:lnSpc>
              <a:buNone/>
            </a:pPr>
            <a:r>
              <a:rPr lang="en-GB" sz="1600">
                <a:solidFill>
                  <a:srgbClr val="000000"/>
                </a:solidFill>
                <a:ea typeface="+mn-lt"/>
                <a:cs typeface="+mn-lt"/>
              </a:rPr>
              <a:t>To monitor the sustainability performance along the SC, audits can be implemented,either led by the focal company at the different facilities and suppliers’ sites</a:t>
            </a:r>
            <a:endParaRPr lang="en-GB" sz="1600">
              <a:solidFill>
                <a:srgbClr val="000000"/>
              </a:solidFill>
            </a:endParaRPr>
          </a:p>
        </p:txBody>
      </p:sp>
      <p:pic>
        <p:nvPicPr>
          <p:cNvPr id="4" name="Picture 4">
            <a:extLst>
              <a:ext uri="{FF2B5EF4-FFF2-40B4-BE49-F238E27FC236}">
                <a16:creationId xmlns:a16="http://schemas.microsoft.com/office/drawing/2014/main" id="{311AF3F6-43BA-4F0E-8A75-7B326A9C4B49}"/>
              </a:ext>
            </a:extLst>
          </p:cNvPr>
          <p:cNvPicPr>
            <a:picLocks noChangeAspect="1"/>
          </p:cNvPicPr>
          <p:nvPr/>
        </p:nvPicPr>
        <p:blipFill rotWithShape="1">
          <a:blip r:embed="rId2"/>
          <a:srcRect l="12156" r="21007"/>
          <a:stretch/>
        </p:blipFill>
        <p:spPr>
          <a:xfrm>
            <a:off x="6080462" y="10"/>
            <a:ext cx="6111538" cy="6857990"/>
          </a:xfrm>
          <a:prstGeom prst="rect">
            <a:avLst/>
          </a:prstGeom>
        </p:spPr>
      </p:pic>
    </p:spTree>
    <p:extLst>
      <p:ext uri="{BB962C8B-B14F-4D97-AF65-F5344CB8AC3E}">
        <p14:creationId xmlns:p14="http://schemas.microsoft.com/office/powerpoint/2010/main" val="2428887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D6B34F-7BF9-4DD7-81F6-50B3C2323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Diagram&#10;&#10;Description automatically generated">
            <a:extLst>
              <a:ext uri="{FF2B5EF4-FFF2-40B4-BE49-F238E27FC236}">
                <a16:creationId xmlns:a16="http://schemas.microsoft.com/office/drawing/2014/main" id="{D4E7A810-B4FA-4DB6-9DFD-8ECFBC621C51}"/>
              </a:ext>
            </a:extLst>
          </p:cNvPr>
          <p:cNvPicPr>
            <a:picLocks noGrp="1" noChangeAspect="1"/>
          </p:cNvPicPr>
          <p:nvPr>
            <p:ph idx="1"/>
          </p:nvPr>
        </p:nvPicPr>
        <p:blipFill rotWithShape="1">
          <a:blip r:embed="rId2"/>
          <a:srcRect t="1413" b="5865"/>
          <a:stretch/>
        </p:blipFill>
        <p:spPr>
          <a:xfrm>
            <a:off x="362224" y="340412"/>
            <a:ext cx="11355493" cy="6053911"/>
          </a:xfrm>
          <a:custGeom>
            <a:avLst/>
            <a:gdLst/>
            <a:ahLst/>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544271704"/>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docProps/app.xml><?xml version="1.0" encoding="utf-8"?>
<Properties xmlns="http://schemas.openxmlformats.org/officeDocument/2006/extended-properties" xmlns:vt="http://schemas.openxmlformats.org/officeDocument/2006/docPropsVTypes">
  <Template>office theme</Template>
  <TotalTime>982</TotalTime>
  <Words>1500</Words>
  <Application>Microsoft Office PowerPoint</Application>
  <PresentationFormat>Widescreen</PresentationFormat>
  <Paragraphs>71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Avenir Next LT Pro</vt:lpstr>
      <vt:lpstr>Calibri Light</vt:lpstr>
      <vt:lpstr>Goudy Old Style</vt:lpstr>
      <vt:lpstr>Wingdings</vt:lpstr>
      <vt:lpstr>FrostyVTI</vt:lpstr>
      <vt:lpstr>Sustainable Supply Chain Management  </vt:lpstr>
      <vt:lpstr>Presentation Outline </vt:lpstr>
      <vt:lpstr> Background of Sustainable Supply Chain Management </vt:lpstr>
      <vt:lpstr>Background of Sustainable Supply Chain Management - Contd</vt:lpstr>
      <vt:lpstr>Sustainable Supply Chain  Management vs Sustainability Development Goals </vt:lpstr>
      <vt:lpstr>PowerPoint Presentation</vt:lpstr>
      <vt:lpstr>Reverse Logistics and Other Preceding Terms</vt:lpstr>
      <vt:lpstr>PowerPoint Presentation</vt:lpstr>
      <vt:lpstr>Reverse Logistics and Other Preceding Terms</vt:lpstr>
      <vt:lpstr>Green Supply Chain Management</vt:lpstr>
      <vt:lpstr>PowerPoint Presentation</vt:lpstr>
      <vt:lpstr>Sustainable Supply Chain Management </vt:lpstr>
      <vt:lpstr>Integrating Sustainability in Supply Chain Governance Mechanisms and Top Management</vt:lpstr>
      <vt:lpstr>Integrating Sustainability at the Operational Level</vt:lpstr>
      <vt:lpstr>Integrating Sustainability at the Product Level</vt:lpstr>
      <vt:lpstr>Transferring Sustainability to Supply Chain Partners and Monitoring Sustainability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Maleesha Edirisinghe</cp:lastModifiedBy>
  <cp:revision>713</cp:revision>
  <dcterms:created xsi:type="dcterms:W3CDTF">2021-09-06T13:09:47Z</dcterms:created>
  <dcterms:modified xsi:type="dcterms:W3CDTF">2024-06-21T12:39:52Z</dcterms:modified>
</cp:coreProperties>
</file>